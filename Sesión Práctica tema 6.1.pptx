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11" r:id="rId1"/>
  </p:sldMasterIdLst>
  <p:notesMasterIdLst>
    <p:notesMasterId r:id="rId28"/>
  </p:notesMasterIdLst>
  <p:sldIdLst>
    <p:sldId id="257" r:id="rId2"/>
    <p:sldId id="373" r:id="rId3"/>
    <p:sldId id="366" r:id="rId4"/>
    <p:sldId id="375" r:id="rId5"/>
    <p:sldId id="316" r:id="rId6"/>
    <p:sldId id="313" r:id="rId7"/>
    <p:sldId id="374" r:id="rId8"/>
    <p:sldId id="278" r:id="rId9"/>
    <p:sldId id="386" r:id="rId10"/>
    <p:sldId id="384" r:id="rId11"/>
    <p:sldId id="387" r:id="rId12"/>
    <p:sldId id="385" r:id="rId13"/>
    <p:sldId id="388" r:id="rId14"/>
    <p:sldId id="370" r:id="rId15"/>
    <p:sldId id="259" r:id="rId16"/>
    <p:sldId id="371" r:id="rId17"/>
    <p:sldId id="381" r:id="rId18"/>
    <p:sldId id="382" r:id="rId19"/>
    <p:sldId id="383" r:id="rId20"/>
    <p:sldId id="310" r:id="rId21"/>
    <p:sldId id="377" r:id="rId22"/>
    <p:sldId id="378" r:id="rId23"/>
    <p:sldId id="389" r:id="rId24"/>
    <p:sldId id="390" r:id="rId25"/>
    <p:sldId id="391" r:id="rId26"/>
    <p:sldId id="322"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54"/>
    <p:restoredTop sz="83906" autoAdjust="0"/>
  </p:normalViewPr>
  <p:slideViewPr>
    <p:cSldViewPr>
      <p:cViewPr varScale="1">
        <p:scale>
          <a:sx n="69" d="100"/>
          <a:sy n="69" d="100"/>
        </p:scale>
        <p:origin x="2309" y="67"/>
      </p:cViewPr>
      <p:guideLst>
        <p:guide orient="horz" pos="2160"/>
        <p:guide pos="2880"/>
      </p:guideLst>
    </p:cSldViewPr>
  </p:slideViewPr>
  <p:notesTextViewPr>
    <p:cViewPr>
      <p:scale>
        <a:sx n="100" d="100"/>
        <a:sy n="100" d="100"/>
      </p:scale>
      <p:origin x="0" y="0"/>
    </p:cViewPr>
  </p:notesTextViewPr>
  <p:notesViewPr>
    <p:cSldViewPr>
      <p:cViewPr varScale="1">
        <p:scale>
          <a:sx n="53" d="100"/>
          <a:sy n="53" d="100"/>
        </p:scale>
        <p:origin x="-122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BDAF528D-153E-6864-ACDA-ABB01F37B15B}"/>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vl1pPr>
          </a:lstStyle>
          <a:p>
            <a:endParaRPr lang="en-US" altLang="es-ES"/>
          </a:p>
        </p:txBody>
      </p:sp>
      <p:sp>
        <p:nvSpPr>
          <p:cNvPr id="4099" name="Rectangle 3">
            <a:extLst>
              <a:ext uri="{FF2B5EF4-FFF2-40B4-BE49-F238E27FC236}">
                <a16:creationId xmlns:a16="http://schemas.microsoft.com/office/drawing/2014/main" id="{1EBAC32E-F927-2F63-A06D-54DECC975330}"/>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endParaRPr lang="en-US" altLang="es-ES"/>
          </a:p>
        </p:txBody>
      </p:sp>
      <p:sp>
        <p:nvSpPr>
          <p:cNvPr id="4100" name="Rectangle 4">
            <a:extLst>
              <a:ext uri="{FF2B5EF4-FFF2-40B4-BE49-F238E27FC236}">
                <a16:creationId xmlns:a16="http://schemas.microsoft.com/office/drawing/2014/main" id="{956B4366-33F7-714B-FE43-49D0EB07B804}"/>
              </a:ext>
            </a:extLst>
          </p:cNvPr>
          <p:cNvSpPr>
            <a:spLocks noGrp="1" noRot="1" noChangeAspect="1" noChangeArrowheads="1" noTextEdit="1"/>
          </p:cNvSpPr>
          <p:nvPr>
            <p:ph type="sldImg" idx="2"/>
          </p:nvPr>
        </p:nvSpPr>
        <p:spPr bwMode="auto">
          <a:xfrm>
            <a:off x="1600200" y="685800"/>
            <a:ext cx="3429000" cy="23622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a:extLst>
              <a:ext uri="{FF2B5EF4-FFF2-40B4-BE49-F238E27FC236}">
                <a16:creationId xmlns:a16="http://schemas.microsoft.com/office/drawing/2014/main" id="{10AFE190-4149-E7D3-6F57-C9C6C34FEF08}"/>
              </a:ext>
            </a:extLst>
          </p:cNvPr>
          <p:cNvSpPr>
            <a:spLocks noGrp="1" noChangeArrowheads="1"/>
          </p:cNvSpPr>
          <p:nvPr>
            <p:ph type="body" sz="quarter" idx="3"/>
          </p:nvPr>
        </p:nvSpPr>
        <p:spPr bwMode="auto">
          <a:xfrm>
            <a:off x="381000" y="3276600"/>
            <a:ext cx="6172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s-ES"/>
              <a:t>Click to edit Master text styles</a:t>
            </a:r>
          </a:p>
          <a:p>
            <a:pPr lvl="1"/>
            <a:r>
              <a:rPr lang="en-US" altLang="es-ES"/>
              <a:t>Second level</a:t>
            </a:r>
          </a:p>
          <a:p>
            <a:pPr lvl="2"/>
            <a:r>
              <a:rPr lang="en-US" altLang="es-ES"/>
              <a:t>Third level</a:t>
            </a:r>
          </a:p>
          <a:p>
            <a:pPr lvl="3"/>
            <a:r>
              <a:rPr lang="en-US" altLang="es-ES"/>
              <a:t>Fourth level</a:t>
            </a:r>
          </a:p>
          <a:p>
            <a:pPr lvl="4"/>
            <a:r>
              <a:rPr lang="en-US" altLang="es-ES"/>
              <a:t>Fifth level</a:t>
            </a:r>
          </a:p>
        </p:txBody>
      </p:sp>
      <p:sp>
        <p:nvSpPr>
          <p:cNvPr id="4102" name="Rectangle 6">
            <a:extLst>
              <a:ext uri="{FF2B5EF4-FFF2-40B4-BE49-F238E27FC236}">
                <a16:creationId xmlns:a16="http://schemas.microsoft.com/office/drawing/2014/main" id="{B4AF3465-B583-B163-8E7D-6A384C2D5FC1}"/>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endParaRPr lang="en-US" altLang="es-ES"/>
          </a:p>
        </p:txBody>
      </p:sp>
      <p:sp>
        <p:nvSpPr>
          <p:cNvPr id="4103" name="Rectangle 7">
            <a:extLst>
              <a:ext uri="{FF2B5EF4-FFF2-40B4-BE49-F238E27FC236}">
                <a16:creationId xmlns:a16="http://schemas.microsoft.com/office/drawing/2014/main" id="{EBBE919A-3D58-6C36-48B8-7E6CFBC6E510}"/>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fld id="{6696020E-81B4-C94D-BD3A-5C072B498DCC}" type="slidenum">
              <a:rPr lang="en-US" altLang="es-ES"/>
              <a:pPr/>
              <a:t>‹Nº›</a:t>
            </a:fld>
            <a:endParaRPr lang="en-US" altLang="es-E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buChar char="•"/>
      <a:defRPr sz="1200" kern="1200">
        <a:solidFill>
          <a:schemeClr val="tx1"/>
        </a:solidFill>
        <a:latin typeface="Arial" panose="020B0604020202020204" pitchFamily="34" charset="0"/>
        <a:ea typeface="+mn-ea"/>
        <a:cs typeface="+mn-cs"/>
      </a:defRPr>
    </a:lvl1pPr>
    <a:lvl2pPr marL="233363" indent="-9525" algn="l" rtl="0" fontAlgn="base">
      <a:spcBef>
        <a:spcPct val="30000"/>
      </a:spcBef>
      <a:spcAft>
        <a:spcPct val="0"/>
      </a:spcAft>
      <a:buChar char="•"/>
      <a:defRPr sz="1200" kern="1200">
        <a:solidFill>
          <a:schemeClr val="tx1"/>
        </a:solidFill>
        <a:latin typeface="Arial" panose="020B0604020202020204" pitchFamily="34" charset="0"/>
        <a:ea typeface="+mn-ea"/>
        <a:cs typeface="+mn-cs"/>
      </a:defRPr>
    </a:lvl2pPr>
    <a:lvl3pPr marL="466725" indent="-19050" algn="l" rtl="0" fontAlgn="base">
      <a:spcBef>
        <a:spcPct val="30000"/>
      </a:spcBef>
      <a:spcAft>
        <a:spcPct val="0"/>
      </a:spcAft>
      <a:buChar char="•"/>
      <a:defRPr sz="1200" kern="1200">
        <a:solidFill>
          <a:schemeClr val="tx1"/>
        </a:solidFill>
        <a:latin typeface="Arial" panose="020B0604020202020204" pitchFamily="34" charset="0"/>
        <a:ea typeface="+mn-ea"/>
        <a:cs typeface="+mn-cs"/>
      </a:defRPr>
    </a:lvl3pPr>
    <a:lvl4pPr marL="681038" indent="-9525" algn="l" rtl="0" fontAlgn="base">
      <a:spcBef>
        <a:spcPct val="30000"/>
      </a:spcBef>
      <a:spcAft>
        <a:spcPct val="0"/>
      </a:spcAft>
      <a:buChar char="•"/>
      <a:defRPr sz="1200" kern="1200">
        <a:solidFill>
          <a:schemeClr val="tx1"/>
        </a:solidFill>
        <a:latin typeface="Arial" panose="020B0604020202020204" pitchFamily="34" charset="0"/>
        <a:ea typeface="+mn-ea"/>
        <a:cs typeface="+mn-cs"/>
      </a:defRPr>
    </a:lvl4pPr>
    <a:lvl5pPr marL="914400" algn="l" rtl="0" fontAlgn="base">
      <a:spcBef>
        <a:spcPct val="30000"/>
      </a:spcBef>
      <a:spcAft>
        <a:spcPct val="0"/>
      </a:spcAft>
      <a:buChar char="•"/>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F3FA1B2-22B5-CEF5-9EA1-800B7A30EB3E}"/>
              </a:ext>
            </a:extLst>
          </p:cNvPr>
          <p:cNvSpPr>
            <a:spLocks noGrp="1" noChangeArrowheads="1"/>
          </p:cNvSpPr>
          <p:nvPr>
            <p:ph type="sldNum" sz="quarter" idx="5"/>
          </p:nvPr>
        </p:nvSpPr>
        <p:spPr>
          <a:ln/>
        </p:spPr>
        <p:txBody>
          <a:bodyPr/>
          <a:lstStyle/>
          <a:p>
            <a:fld id="{76655FF2-0BAA-264F-8530-757D7B28A3B6}" type="slidenum">
              <a:rPr lang="en-US" altLang="es-ES"/>
              <a:pPr/>
              <a:t>1</a:t>
            </a:fld>
            <a:endParaRPr lang="en-US" altLang="es-ES"/>
          </a:p>
        </p:txBody>
      </p:sp>
      <p:sp>
        <p:nvSpPr>
          <p:cNvPr id="5122" name="Rectangle 2">
            <a:extLst>
              <a:ext uri="{FF2B5EF4-FFF2-40B4-BE49-F238E27FC236}">
                <a16:creationId xmlns:a16="http://schemas.microsoft.com/office/drawing/2014/main" id="{948F120E-8218-C69F-20C6-09763026C263}"/>
              </a:ext>
            </a:extLst>
          </p:cNvPr>
          <p:cNvSpPr>
            <a:spLocks noGrp="1" noRot="1" noChangeAspect="1" noChangeArrowheads="1" noTextEdit="1"/>
          </p:cNvSpPr>
          <p:nvPr>
            <p:ph type="sldImg"/>
          </p:nvPr>
        </p:nvSpPr>
        <p:spPr>
          <a:xfrm>
            <a:off x="1739900" y="685800"/>
            <a:ext cx="3149600" cy="2362200"/>
          </a:xfrm>
          <a:ln/>
        </p:spPr>
      </p:sp>
      <p:sp>
        <p:nvSpPr>
          <p:cNvPr id="5123" name="Rectangle 3">
            <a:extLst>
              <a:ext uri="{FF2B5EF4-FFF2-40B4-BE49-F238E27FC236}">
                <a16:creationId xmlns:a16="http://schemas.microsoft.com/office/drawing/2014/main" id="{564D9BD3-2D3F-492B-3BC2-B6C0CE2DE301}"/>
              </a:ext>
            </a:extLst>
          </p:cNvPr>
          <p:cNvSpPr>
            <a:spLocks noGrp="1" noChangeArrowheads="1"/>
          </p:cNvSpPr>
          <p:nvPr>
            <p:ph type="body" idx="1"/>
          </p:nvPr>
        </p:nvSpPr>
        <p:spPr>
          <a:xfrm>
            <a:off x="638175" y="3276600"/>
            <a:ext cx="5657850" cy="5181600"/>
          </a:xfrm>
        </p:spPr>
        <p:txBody>
          <a:bodyPr/>
          <a:lstStyle/>
          <a:p>
            <a:endParaRPr lang="es-ES" altLang="es-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81CFF-6064-42A8-2EE9-12ECA9FD363B}"/>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0EDFF70D-6F9B-A5CD-21E3-3EE127490ED6}"/>
              </a:ext>
            </a:extLst>
          </p:cNvPr>
          <p:cNvSpPr>
            <a:spLocks noGrp="1" noChangeArrowheads="1"/>
          </p:cNvSpPr>
          <p:nvPr>
            <p:ph type="sldNum" sz="quarter" idx="5"/>
          </p:nvPr>
        </p:nvSpPr>
        <p:spPr>
          <a:ln/>
        </p:spPr>
        <p:txBody>
          <a:bodyPr/>
          <a:lstStyle/>
          <a:p>
            <a:fld id="{0A6B5846-AB07-0243-A219-5EAF5F9ED36B}" type="slidenum">
              <a:rPr lang="en-US" altLang="es-ES"/>
              <a:pPr/>
              <a:t>3</a:t>
            </a:fld>
            <a:endParaRPr lang="en-US" altLang="es-ES"/>
          </a:p>
        </p:txBody>
      </p:sp>
      <p:sp>
        <p:nvSpPr>
          <p:cNvPr id="7170" name="Rectangle 2">
            <a:extLst>
              <a:ext uri="{FF2B5EF4-FFF2-40B4-BE49-F238E27FC236}">
                <a16:creationId xmlns:a16="http://schemas.microsoft.com/office/drawing/2014/main" id="{F7C01E3E-9EB4-79D5-EF32-40B426DEDC8F}"/>
              </a:ext>
            </a:extLst>
          </p:cNvPr>
          <p:cNvSpPr>
            <a:spLocks noGrp="1" noRot="1" noChangeAspect="1" noChangeArrowheads="1" noTextEdit="1"/>
          </p:cNvSpPr>
          <p:nvPr>
            <p:ph type="sldImg"/>
          </p:nvPr>
        </p:nvSpPr>
        <p:spPr>
          <a:xfrm>
            <a:off x="1739900" y="685800"/>
            <a:ext cx="3149600" cy="2362200"/>
          </a:xfrm>
          <a:ln/>
        </p:spPr>
      </p:sp>
      <p:sp>
        <p:nvSpPr>
          <p:cNvPr id="7171" name="Rectangle 3">
            <a:extLst>
              <a:ext uri="{FF2B5EF4-FFF2-40B4-BE49-F238E27FC236}">
                <a16:creationId xmlns:a16="http://schemas.microsoft.com/office/drawing/2014/main" id="{45316E72-A012-F709-1972-C296FC00A9CD}"/>
              </a:ext>
            </a:extLst>
          </p:cNvPr>
          <p:cNvSpPr>
            <a:spLocks noGrp="1" noChangeArrowheads="1"/>
          </p:cNvSpPr>
          <p:nvPr>
            <p:ph type="body" idx="1"/>
          </p:nvPr>
        </p:nvSpPr>
        <p:spPr>
          <a:xfrm>
            <a:off x="638175" y="3276600"/>
            <a:ext cx="5657850" cy="5181600"/>
          </a:xfrm>
        </p:spPr>
        <p:txBody>
          <a:bodyPr/>
          <a:lstStyle/>
          <a:p>
            <a:endParaRPr lang="es-ES" altLang="es-ES"/>
          </a:p>
        </p:txBody>
      </p:sp>
    </p:spTree>
    <p:extLst>
      <p:ext uri="{BB962C8B-B14F-4D97-AF65-F5344CB8AC3E}">
        <p14:creationId xmlns:p14="http://schemas.microsoft.com/office/powerpoint/2010/main" val="33288079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34D5C-A0F2-F60F-3ED3-29A3A311D884}"/>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32EAC029-6816-F12A-2402-165B7FBEFBAD}"/>
              </a:ext>
            </a:extLst>
          </p:cNvPr>
          <p:cNvSpPr>
            <a:spLocks noGrp="1" noChangeArrowheads="1"/>
          </p:cNvSpPr>
          <p:nvPr>
            <p:ph type="sldNum" sz="quarter" idx="5"/>
          </p:nvPr>
        </p:nvSpPr>
        <p:spPr>
          <a:ln/>
        </p:spPr>
        <p:txBody>
          <a:bodyPr/>
          <a:lstStyle/>
          <a:p>
            <a:fld id="{0A6B5846-AB07-0243-A219-5EAF5F9ED36B}" type="slidenum">
              <a:rPr lang="en-US" altLang="es-ES"/>
              <a:pPr/>
              <a:t>4</a:t>
            </a:fld>
            <a:endParaRPr lang="en-US" altLang="es-ES"/>
          </a:p>
        </p:txBody>
      </p:sp>
      <p:sp>
        <p:nvSpPr>
          <p:cNvPr id="7170" name="Rectangle 2">
            <a:extLst>
              <a:ext uri="{FF2B5EF4-FFF2-40B4-BE49-F238E27FC236}">
                <a16:creationId xmlns:a16="http://schemas.microsoft.com/office/drawing/2014/main" id="{CA10A550-8B8B-8003-1BE0-D491B62C2B9D}"/>
              </a:ext>
            </a:extLst>
          </p:cNvPr>
          <p:cNvSpPr>
            <a:spLocks noGrp="1" noRot="1" noChangeAspect="1" noChangeArrowheads="1" noTextEdit="1"/>
          </p:cNvSpPr>
          <p:nvPr>
            <p:ph type="sldImg"/>
          </p:nvPr>
        </p:nvSpPr>
        <p:spPr>
          <a:xfrm>
            <a:off x="1739900" y="685800"/>
            <a:ext cx="3149600" cy="2362200"/>
          </a:xfrm>
          <a:ln/>
        </p:spPr>
      </p:sp>
      <p:sp>
        <p:nvSpPr>
          <p:cNvPr id="7171" name="Rectangle 3">
            <a:extLst>
              <a:ext uri="{FF2B5EF4-FFF2-40B4-BE49-F238E27FC236}">
                <a16:creationId xmlns:a16="http://schemas.microsoft.com/office/drawing/2014/main" id="{C754553B-B5AA-7652-30D1-1E2D6505D009}"/>
              </a:ext>
            </a:extLst>
          </p:cNvPr>
          <p:cNvSpPr>
            <a:spLocks noGrp="1" noChangeArrowheads="1"/>
          </p:cNvSpPr>
          <p:nvPr>
            <p:ph type="body" idx="1"/>
          </p:nvPr>
        </p:nvSpPr>
        <p:spPr>
          <a:xfrm>
            <a:off x="638175" y="3276600"/>
            <a:ext cx="5657850" cy="5181600"/>
          </a:xfrm>
        </p:spPr>
        <p:txBody>
          <a:bodyPr/>
          <a:lstStyle/>
          <a:p>
            <a:endParaRPr lang="es-ES" altLang="es-ES"/>
          </a:p>
        </p:txBody>
      </p:sp>
    </p:spTree>
    <p:extLst>
      <p:ext uri="{BB962C8B-B14F-4D97-AF65-F5344CB8AC3E}">
        <p14:creationId xmlns:p14="http://schemas.microsoft.com/office/powerpoint/2010/main" val="3447942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657C9-724C-4DD7-D773-CC91A2AF3D20}"/>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05B0D43C-2CE4-E5B6-8332-99B4EB66AE14}"/>
              </a:ext>
            </a:extLst>
          </p:cNvPr>
          <p:cNvSpPr>
            <a:spLocks noGrp="1" noChangeArrowheads="1"/>
          </p:cNvSpPr>
          <p:nvPr>
            <p:ph type="sldNum" sz="quarter" idx="5"/>
          </p:nvPr>
        </p:nvSpPr>
        <p:spPr>
          <a:ln/>
        </p:spPr>
        <p:txBody>
          <a:bodyPr/>
          <a:lstStyle/>
          <a:p>
            <a:fld id="{0A6B5846-AB07-0243-A219-5EAF5F9ED36B}" type="slidenum">
              <a:rPr lang="en-US" altLang="es-ES"/>
              <a:pPr/>
              <a:t>7</a:t>
            </a:fld>
            <a:endParaRPr lang="en-US" altLang="es-ES"/>
          </a:p>
        </p:txBody>
      </p:sp>
      <p:sp>
        <p:nvSpPr>
          <p:cNvPr id="7170" name="Rectangle 2">
            <a:extLst>
              <a:ext uri="{FF2B5EF4-FFF2-40B4-BE49-F238E27FC236}">
                <a16:creationId xmlns:a16="http://schemas.microsoft.com/office/drawing/2014/main" id="{1CA4F015-1108-17B9-0F2E-C6F40F93DC4F}"/>
              </a:ext>
            </a:extLst>
          </p:cNvPr>
          <p:cNvSpPr>
            <a:spLocks noGrp="1" noRot="1" noChangeAspect="1" noChangeArrowheads="1" noTextEdit="1"/>
          </p:cNvSpPr>
          <p:nvPr>
            <p:ph type="sldImg"/>
          </p:nvPr>
        </p:nvSpPr>
        <p:spPr>
          <a:xfrm>
            <a:off x="1739900" y="685800"/>
            <a:ext cx="3149600" cy="2362200"/>
          </a:xfrm>
          <a:ln/>
        </p:spPr>
      </p:sp>
      <p:sp>
        <p:nvSpPr>
          <p:cNvPr id="7171" name="Rectangle 3">
            <a:extLst>
              <a:ext uri="{FF2B5EF4-FFF2-40B4-BE49-F238E27FC236}">
                <a16:creationId xmlns:a16="http://schemas.microsoft.com/office/drawing/2014/main" id="{601827C3-5291-B521-C822-97698370A7D9}"/>
              </a:ext>
            </a:extLst>
          </p:cNvPr>
          <p:cNvSpPr>
            <a:spLocks noGrp="1" noChangeArrowheads="1"/>
          </p:cNvSpPr>
          <p:nvPr>
            <p:ph type="body" idx="1"/>
          </p:nvPr>
        </p:nvSpPr>
        <p:spPr>
          <a:xfrm>
            <a:off x="638175" y="3276600"/>
            <a:ext cx="5657850" cy="5181600"/>
          </a:xfrm>
        </p:spPr>
        <p:txBody>
          <a:bodyPr/>
          <a:lstStyle/>
          <a:p>
            <a:endParaRPr lang="es-ES" altLang="es-ES"/>
          </a:p>
        </p:txBody>
      </p:sp>
    </p:spTree>
    <p:extLst>
      <p:ext uri="{BB962C8B-B14F-4D97-AF65-F5344CB8AC3E}">
        <p14:creationId xmlns:p14="http://schemas.microsoft.com/office/powerpoint/2010/main" val="34476940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98349-9024-167E-EEA0-BA50000CEC54}"/>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92EE6031-BB56-C6D3-EBAD-7FE24F1CFC5A}"/>
              </a:ext>
            </a:extLst>
          </p:cNvPr>
          <p:cNvSpPr>
            <a:spLocks noGrp="1" noChangeArrowheads="1"/>
          </p:cNvSpPr>
          <p:nvPr>
            <p:ph type="sldNum" sz="quarter" idx="5"/>
          </p:nvPr>
        </p:nvSpPr>
        <p:spPr>
          <a:ln/>
        </p:spPr>
        <p:txBody>
          <a:bodyPr/>
          <a:lstStyle/>
          <a:p>
            <a:fld id="{0A6B5846-AB07-0243-A219-5EAF5F9ED36B}" type="slidenum">
              <a:rPr lang="en-US" altLang="es-ES"/>
              <a:pPr/>
              <a:t>14</a:t>
            </a:fld>
            <a:endParaRPr lang="en-US" altLang="es-ES"/>
          </a:p>
        </p:txBody>
      </p:sp>
      <p:sp>
        <p:nvSpPr>
          <p:cNvPr id="7170" name="Rectangle 2">
            <a:extLst>
              <a:ext uri="{FF2B5EF4-FFF2-40B4-BE49-F238E27FC236}">
                <a16:creationId xmlns:a16="http://schemas.microsoft.com/office/drawing/2014/main" id="{71531974-5185-E5E6-6940-F46AEC83992F}"/>
              </a:ext>
            </a:extLst>
          </p:cNvPr>
          <p:cNvSpPr>
            <a:spLocks noGrp="1" noRot="1" noChangeAspect="1" noChangeArrowheads="1" noTextEdit="1"/>
          </p:cNvSpPr>
          <p:nvPr>
            <p:ph type="sldImg"/>
          </p:nvPr>
        </p:nvSpPr>
        <p:spPr>
          <a:xfrm>
            <a:off x="1739900" y="685800"/>
            <a:ext cx="3149600" cy="2362200"/>
          </a:xfrm>
          <a:ln/>
        </p:spPr>
      </p:sp>
      <p:sp>
        <p:nvSpPr>
          <p:cNvPr id="7171" name="Rectangle 3">
            <a:extLst>
              <a:ext uri="{FF2B5EF4-FFF2-40B4-BE49-F238E27FC236}">
                <a16:creationId xmlns:a16="http://schemas.microsoft.com/office/drawing/2014/main" id="{6CFF9980-7621-089E-E7C6-CDC3CAFF4A1B}"/>
              </a:ext>
            </a:extLst>
          </p:cNvPr>
          <p:cNvSpPr>
            <a:spLocks noGrp="1" noChangeArrowheads="1"/>
          </p:cNvSpPr>
          <p:nvPr>
            <p:ph type="body" idx="1"/>
          </p:nvPr>
        </p:nvSpPr>
        <p:spPr>
          <a:xfrm>
            <a:off x="638175" y="3276600"/>
            <a:ext cx="5657850" cy="5181600"/>
          </a:xfrm>
        </p:spPr>
        <p:txBody>
          <a:bodyPr/>
          <a:lstStyle/>
          <a:p>
            <a:endParaRPr lang="es-ES" altLang="es-ES"/>
          </a:p>
        </p:txBody>
      </p:sp>
    </p:spTree>
    <p:extLst>
      <p:ext uri="{BB962C8B-B14F-4D97-AF65-F5344CB8AC3E}">
        <p14:creationId xmlns:p14="http://schemas.microsoft.com/office/powerpoint/2010/main" val="41948018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A86BC-9B0B-CDF9-68C3-5B5281431EC3}"/>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7FC92782-61E1-1C9D-344E-C07506EA5B84}"/>
              </a:ext>
            </a:extLst>
          </p:cNvPr>
          <p:cNvSpPr>
            <a:spLocks noGrp="1" noChangeArrowheads="1"/>
          </p:cNvSpPr>
          <p:nvPr>
            <p:ph type="sldNum" sz="quarter" idx="5"/>
          </p:nvPr>
        </p:nvSpPr>
        <p:spPr>
          <a:ln/>
        </p:spPr>
        <p:txBody>
          <a:bodyPr/>
          <a:lstStyle/>
          <a:p>
            <a:fld id="{0A6B5846-AB07-0243-A219-5EAF5F9ED36B}" type="slidenum">
              <a:rPr lang="en-US" altLang="es-ES"/>
              <a:pPr/>
              <a:t>16</a:t>
            </a:fld>
            <a:endParaRPr lang="en-US" altLang="es-ES"/>
          </a:p>
        </p:txBody>
      </p:sp>
      <p:sp>
        <p:nvSpPr>
          <p:cNvPr id="7170" name="Rectangle 2">
            <a:extLst>
              <a:ext uri="{FF2B5EF4-FFF2-40B4-BE49-F238E27FC236}">
                <a16:creationId xmlns:a16="http://schemas.microsoft.com/office/drawing/2014/main" id="{92EC3ABC-7AFC-F7A0-4D02-658672C2E253}"/>
              </a:ext>
            </a:extLst>
          </p:cNvPr>
          <p:cNvSpPr>
            <a:spLocks noGrp="1" noRot="1" noChangeAspect="1" noChangeArrowheads="1" noTextEdit="1"/>
          </p:cNvSpPr>
          <p:nvPr>
            <p:ph type="sldImg"/>
          </p:nvPr>
        </p:nvSpPr>
        <p:spPr>
          <a:xfrm>
            <a:off x="1739900" y="685800"/>
            <a:ext cx="3149600" cy="2362200"/>
          </a:xfrm>
          <a:ln/>
        </p:spPr>
      </p:sp>
      <p:sp>
        <p:nvSpPr>
          <p:cNvPr id="7171" name="Rectangle 3">
            <a:extLst>
              <a:ext uri="{FF2B5EF4-FFF2-40B4-BE49-F238E27FC236}">
                <a16:creationId xmlns:a16="http://schemas.microsoft.com/office/drawing/2014/main" id="{F1944065-0E25-6328-B57F-E0187965ED81}"/>
              </a:ext>
            </a:extLst>
          </p:cNvPr>
          <p:cNvSpPr>
            <a:spLocks noGrp="1" noChangeArrowheads="1"/>
          </p:cNvSpPr>
          <p:nvPr>
            <p:ph type="body" idx="1"/>
          </p:nvPr>
        </p:nvSpPr>
        <p:spPr>
          <a:xfrm>
            <a:off x="638175" y="3276600"/>
            <a:ext cx="5657850" cy="5181600"/>
          </a:xfrm>
        </p:spPr>
        <p:txBody>
          <a:bodyPr/>
          <a:lstStyle/>
          <a:p>
            <a:endParaRPr lang="es-ES" altLang="es-ES"/>
          </a:p>
        </p:txBody>
      </p:sp>
    </p:spTree>
    <p:extLst>
      <p:ext uri="{BB962C8B-B14F-4D97-AF65-F5344CB8AC3E}">
        <p14:creationId xmlns:p14="http://schemas.microsoft.com/office/powerpoint/2010/main" val="32115958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08984-A05B-287B-08BC-61DFCD5458B5}"/>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92FA593E-DE1A-D002-5FB8-8D3B2C65633A}"/>
              </a:ext>
            </a:extLst>
          </p:cNvPr>
          <p:cNvSpPr>
            <a:spLocks noGrp="1" noChangeArrowheads="1"/>
          </p:cNvSpPr>
          <p:nvPr>
            <p:ph type="sldNum" sz="quarter" idx="5"/>
          </p:nvPr>
        </p:nvSpPr>
        <p:spPr>
          <a:ln/>
        </p:spPr>
        <p:txBody>
          <a:bodyPr/>
          <a:lstStyle/>
          <a:p>
            <a:fld id="{0A6B5846-AB07-0243-A219-5EAF5F9ED36B}" type="slidenum">
              <a:rPr lang="en-US" altLang="es-ES"/>
              <a:pPr/>
              <a:t>17</a:t>
            </a:fld>
            <a:endParaRPr lang="en-US" altLang="es-ES"/>
          </a:p>
        </p:txBody>
      </p:sp>
      <p:sp>
        <p:nvSpPr>
          <p:cNvPr id="7170" name="Rectangle 2">
            <a:extLst>
              <a:ext uri="{FF2B5EF4-FFF2-40B4-BE49-F238E27FC236}">
                <a16:creationId xmlns:a16="http://schemas.microsoft.com/office/drawing/2014/main" id="{374E9F88-56D5-3E57-6AAA-AE2CBEB7CA50}"/>
              </a:ext>
            </a:extLst>
          </p:cNvPr>
          <p:cNvSpPr>
            <a:spLocks noGrp="1" noRot="1" noChangeAspect="1" noChangeArrowheads="1" noTextEdit="1"/>
          </p:cNvSpPr>
          <p:nvPr>
            <p:ph type="sldImg"/>
          </p:nvPr>
        </p:nvSpPr>
        <p:spPr>
          <a:xfrm>
            <a:off x="1739900" y="685800"/>
            <a:ext cx="3149600" cy="2362200"/>
          </a:xfrm>
          <a:ln/>
        </p:spPr>
      </p:sp>
      <p:sp>
        <p:nvSpPr>
          <p:cNvPr id="7171" name="Rectangle 3">
            <a:extLst>
              <a:ext uri="{FF2B5EF4-FFF2-40B4-BE49-F238E27FC236}">
                <a16:creationId xmlns:a16="http://schemas.microsoft.com/office/drawing/2014/main" id="{C5416DDC-0EEE-8626-010D-5DC5ED786C2D}"/>
              </a:ext>
            </a:extLst>
          </p:cNvPr>
          <p:cNvSpPr>
            <a:spLocks noGrp="1" noChangeArrowheads="1"/>
          </p:cNvSpPr>
          <p:nvPr>
            <p:ph type="body" idx="1"/>
          </p:nvPr>
        </p:nvSpPr>
        <p:spPr>
          <a:xfrm>
            <a:off x="638175" y="3276600"/>
            <a:ext cx="5657850" cy="5181600"/>
          </a:xfrm>
        </p:spPr>
        <p:txBody>
          <a:bodyPr/>
          <a:lstStyle/>
          <a:p>
            <a:endParaRPr lang="es-ES" altLang="es-ES"/>
          </a:p>
        </p:txBody>
      </p:sp>
    </p:spTree>
    <p:extLst>
      <p:ext uri="{BB962C8B-B14F-4D97-AF65-F5344CB8AC3E}">
        <p14:creationId xmlns:p14="http://schemas.microsoft.com/office/powerpoint/2010/main" val="38867378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C2B47-A1BE-A270-DED5-B7B136780750}"/>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91FA2237-9408-DA2F-736D-8BEF8B41F660}"/>
              </a:ext>
            </a:extLst>
          </p:cNvPr>
          <p:cNvSpPr>
            <a:spLocks noGrp="1" noChangeArrowheads="1"/>
          </p:cNvSpPr>
          <p:nvPr>
            <p:ph type="sldNum" sz="quarter" idx="5"/>
          </p:nvPr>
        </p:nvSpPr>
        <p:spPr>
          <a:ln/>
        </p:spPr>
        <p:txBody>
          <a:bodyPr/>
          <a:lstStyle/>
          <a:p>
            <a:fld id="{0A6B5846-AB07-0243-A219-5EAF5F9ED36B}" type="slidenum">
              <a:rPr lang="en-US" altLang="es-ES"/>
              <a:pPr/>
              <a:t>18</a:t>
            </a:fld>
            <a:endParaRPr lang="en-US" altLang="es-ES"/>
          </a:p>
        </p:txBody>
      </p:sp>
      <p:sp>
        <p:nvSpPr>
          <p:cNvPr id="7170" name="Rectangle 2">
            <a:extLst>
              <a:ext uri="{FF2B5EF4-FFF2-40B4-BE49-F238E27FC236}">
                <a16:creationId xmlns:a16="http://schemas.microsoft.com/office/drawing/2014/main" id="{55F9D61D-FDF2-28C9-4D89-A6FBFE366106}"/>
              </a:ext>
            </a:extLst>
          </p:cNvPr>
          <p:cNvSpPr>
            <a:spLocks noGrp="1" noRot="1" noChangeAspect="1" noChangeArrowheads="1" noTextEdit="1"/>
          </p:cNvSpPr>
          <p:nvPr>
            <p:ph type="sldImg"/>
          </p:nvPr>
        </p:nvSpPr>
        <p:spPr>
          <a:xfrm>
            <a:off x="1739900" y="685800"/>
            <a:ext cx="3149600" cy="2362200"/>
          </a:xfrm>
          <a:ln/>
        </p:spPr>
      </p:sp>
      <p:sp>
        <p:nvSpPr>
          <p:cNvPr id="7171" name="Rectangle 3">
            <a:extLst>
              <a:ext uri="{FF2B5EF4-FFF2-40B4-BE49-F238E27FC236}">
                <a16:creationId xmlns:a16="http://schemas.microsoft.com/office/drawing/2014/main" id="{53A63B57-FF64-0518-7438-9A8B82F46476}"/>
              </a:ext>
            </a:extLst>
          </p:cNvPr>
          <p:cNvSpPr>
            <a:spLocks noGrp="1" noChangeArrowheads="1"/>
          </p:cNvSpPr>
          <p:nvPr>
            <p:ph type="body" idx="1"/>
          </p:nvPr>
        </p:nvSpPr>
        <p:spPr>
          <a:xfrm>
            <a:off x="638175" y="3276600"/>
            <a:ext cx="5657850" cy="5181600"/>
          </a:xfrm>
        </p:spPr>
        <p:txBody>
          <a:bodyPr/>
          <a:lstStyle/>
          <a:p>
            <a:endParaRPr lang="es-ES" altLang="es-ES"/>
          </a:p>
        </p:txBody>
      </p:sp>
    </p:spTree>
    <p:extLst>
      <p:ext uri="{BB962C8B-B14F-4D97-AF65-F5344CB8AC3E}">
        <p14:creationId xmlns:p14="http://schemas.microsoft.com/office/powerpoint/2010/main" val="36652167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0612B-3E70-A69E-7206-40DC8EE39CE3}"/>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4C8F6FC5-AF72-A83F-A71A-86636C65AE98}"/>
              </a:ext>
            </a:extLst>
          </p:cNvPr>
          <p:cNvSpPr>
            <a:spLocks noGrp="1" noChangeArrowheads="1"/>
          </p:cNvSpPr>
          <p:nvPr>
            <p:ph type="sldNum" sz="quarter" idx="5"/>
          </p:nvPr>
        </p:nvSpPr>
        <p:spPr>
          <a:ln/>
        </p:spPr>
        <p:txBody>
          <a:bodyPr/>
          <a:lstStyle/>
          <a:p>
            <a:fld id="{0A6B5846-AB07-0243-A219-5EAF5F9ED36B}" type="slidenum">
              <a:rPr lang="en-US" altLang="es-ES"/>
              <a:pPr/>
              <a:t>19</a:t>
            </a:fld>
            <a:endParaRPr lang="en-US" altLang="es-ES"/>
          </a:p>
        </p:txBody>
      </p:sp>
      <p:sp>
        <p:nvSpPr>
          <p:cNvPr id="7170" name="Rectangle 2">
            <a:extLst>
              <a:ext uri="{FF2B5EF4-FFF2-40B4-BE49-F238E27FC236}">
                <a16:creationId xmlns:a16="http://schemas.microsoft.com/office/drawing/2014/main" id="{C277BE53-4F2D-BBA5-BB24-D7095A4B9C2B}"/>
              </a:ext>
            </a:extLst>
          </p:cNvPr>
          <p:cNvSpPr>
            <a:spLocks noGrp="1" noRot="1" noChangeAspect="1" noChangeArrowheads="1" noTextEdit="1"/>
          </p:cNvSpPr>
          <p:nvPr>
            <p:ph type="sldImg"/>
          </p:nvPr>
        </p:nvSpPr>
        <p:spPr>
          <a:xfrm>
            <a:off x="1739900" y="685800"/>
            <a:ext cx="3149600" cy="2362200"/>
          </a:xfrm>
          <a:ln/>
        </p:spPr>
      </p:sp>
      <p:sp>
        <p:nvSpPr>
          <p:cNvPr id="7171" name="Rectangle 3">
            <a:extLst>
              <a:ext uri="{FF2B5EF4-FFF2-40B4-BE49-F238E27FC236}">
                <a16:creationId xmlns:a16="http://schemas.microsoft.com/office/drawing/2014/main" id="{5F6D4C0C-BCD5-94B9-3E22-58579B48841C}"/>
              </a:ext>
            </a:extLst>
          </p:cNvPr>
          <p:cNvSpPr>
            <a:spLocks noGrp="1" noChangeArrowheads="1"/>
          </p:cNvSpPr>
          <p:nvPr>
            <p:ph type="body" idx="1"/>
          </p:nvPr>
        </p:nvSpPr>
        <p:spPr>
          <a:xfrm>
            <a:off x="638175" y="3276600"/>
            <a:ext cx="5657850" cy="5181600"/>
          </a:xfrm>
        </p:spPr>
        <p:txBody>
          <a:bodyPr/>
          <a:lstStyle/>
          <a:p>
            <a:endParaRPr lang="es-ES" altLang="es-ES"/>
          </a:p>
        </p:txBody>
      </p:sp>
    </p:spTree>
    <p:extLst>
      <p:ext uri="{BB962C8B-B14F-4D97-AF65-F5344CB8AC3E}">
        <p14:creationId xmlns:p14="http://schemas.microsoft.com/office/powerpoint/2010/main" val="18999056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3E2A6-016A-EE16-9243-5D983D41AE0F}"/>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FFB347CD-EDB6-5E38-DB36-8F83BD3DECBB}"/>
              </a:ext>
            </a:extLst>
          </p:cNvPr>
          <p:cNvSpPr>
            <a:spLocks noGrp="1" noChangeArrowheads="1"/>
          </p:cNvSpPr>
          <p:nvPr>
            <p:ph type="sldNum" sz="quarter" idx="5"/>
          </p:nvPr>
        </p:nvSpPr>
        <p:spPr>
          <a:ln/>
        </p:spPr>
        <p:txBody>
          <a:bodyPr/>
          <a:lstStyle/>
          <a:p>
            <a:fld id="{0A6B5846-AB07-0243-A219-5EAF5F9ED36B}" type="slidenum">
              <a:rPr lang="en-US" altLang="es-ES"/>
              <a:pPr/>
              <a:t>21</a:t>
            </a:fld>
            <a:endParaRPr lang="en-US" altLang="es-ES"/>
          </a:p>
        </p:txBody>
      </p:sp>
      <p:sp>
        <p:nvSpPr>
          <p:cNvPr id="7170" name="Rectangle 2">
            <a:extLst>
              <a:ext uri="{FF2B5EF4-FFF2-40B4-BE49-F238E27FC236}">
                <a16:creationId xmlns:a16="http://schemas.microsoft.com/office/drawing/2014/main" id="{4030DF50-067F-9569-010A-4BBA3FDDF2EA}"/>
              </a:ext>
            </a:extLst>
          </p:cNvPr>
          <p:cNvSpPr>
            <a:spLocks noGrp="1" noRot="1" noChangeAspect="1" noChangeArrowheads="1" noTextEdit="1"/>
          </p:cNvSpPr>
          <p:nvPr>
            <p:ph type="sldImg"/>
          </p:nvPr>
        </p:nvSpPr>
        <p:spPr>
          <a:xfrm>
            <a:off x="1739900" y="685800"/>
            <a:ext cx="3149600" cy="2362200"/>
          </a:xfrm>
          <a:ln/>
        </p:spPr>
      </p:sp>
      <p:sp>
        <p:nvSpPr>
          <p:cNvPr id="7171" name="Rectangle 3">
            <a:extLst>
              <a:ext uri="{FF2B5EF4-FFF2-40B4-BE49-F238E27FC236}">
                <a16:creationId xmlns:a16="http://schemas.microsoft.com/office/drawing/2014/main" id="{5B29AC77-9BDE-4C89-3C88-32332FD4A36E}"/>
              </a:ext>
            </a:extLst>
          </p:cNvPr>
          <p:cNvSpPr>
            <a:spLocks noGrp="1" noChangeArrowheads="1"/>
          </p:cNvSpPr>
          <p:nvPr>
            <p:ph type="body" idx="1"/>
          </p:nvPr>
        </p:nvSpPr>
        <p:spPr>
          <a:xfrm>
            <a:off x="638175" y="3276600"/>
            <a:ext cx="5657850" cy="5181600"/>
          </a:xfrm>
        </p:spPr>
        <p:txBody>
          <a:bodyPr/>
          <a:lstStyle/>
          <a:p>
            <a:endParaRPr lang="es-ES" altLang="es-ES"/>
          </a:p>
        </p:txBody>
      </p:sp>
    </p:spTree>
    <p:extLst>
      <p:ext uri="{BB962C8B-B14F-4D97-AF65-F5344CB8AC3E}">
        <p14:creationId xmlns:p14="http://schemas.microsoft.com/office/powerpoint/2010/main" val="23425075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9D643-C9A1-CCB8-08C6-F209654E4E0F}"/>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11F2B7DE-25CC-EA84-22AC-D9BE675799A5}"/>
              </a:ext>
            </a:extLst>
          </p:cNvPr>
          <p:cNvSpPr>
            <a:spLocks noGrp="1" noChangeArrowheads="1"/>
          </p:cNvSpPr>
          <p:nvPr>
            <p:ph type="sldNum" sz="quarter" idx="5"/>
          </p:nvPr>
        </p:nvSpPr>
        <p:spPr>
          <a:ln/>
        </p:spPr>
        <p:txBody>
          <a:bodyPr/>
          <a:lstStyle/>
          <a:p>
            <a:fld id="{0A6B5846-AB07-0243-A219-5EAF5F9ED36B}" type="slidenum">
              <a:rPr lang="en-US" altLang="es-ES"/>
              <a:pPr/>
              <a:t>22</a:t>
            </a:fld>
            <a:endParaRPr lang="en-US" altLang="es-ES"/>
          </a:p>
        </p:txBody>
      </p:sp>
      <p:sp>
        <p:nvSpPr>
          <p:cNvPr id="7170" name="Rectangle 2">
            <a:extLst>
              <a:ext uri="{FF2B5EF4-FFF2-40B4-BE49-F238E27FC236}">
                <a16:creationId xmlns:a16="http://schemas.microsoft.com/office/drawing/2014/main" id="{D0D4D92E-CA7F-4396-3409-FF7530B7DB70}"/>
              </a:ext>
            </a:extLst>
          </p:cNvPr>
          <p:cNvSpPr>
            <a:spLocks noGrp="1" noRot="1" noChangeAspect="1" noChangeArrowheads="1" noTextEdit="1"/>
          </p:cNvSpPr>
          <p:nvPr>
            <p:ph type="sldImg"/>
          </p:nvPr>
        </p:nvSpPr>
        <p:spPr>
          <a:xfrm>
            <a:off x="1739900" y="685800"/>
            <a:ext cx="3149600" cy="2362200"/>
          </a:xfrm>
          <a:ln/>
        </p:spPr>
      </p:sp>
      <p:sp>
        <p:nvSpPr>
          <p:cNvPr id="7171" name="Rectangle 3">
            <a:extLst>
              <a:ext uri="{FF2B5EF4-FFF2-40B4-BE49-F238E27FC236}">
                <a16:creationId xmlns:a16="http://schemas.microsoft.com/office/drawing/2014/main" id="{D1D070D2-3DE6-A61E-4532-AC35717B6FA9}"/>
              </a:ext>
            </a:extLst>
          </p:cNvPr>
          <p:cNvSpPr>
            <a:spLocks noGrp="1" noChangeArrowheads="1"/>
          </p:cNvSpPr>
          <p:nvPr>
            <p:ph type="body" idx="1"/>
          </p:nvPr>
        </p:nvSpPr>
        <p:spPr>
          <a:xfrm>
            <a:off x="638175" y="3276600"/>
            <a:ext cx="5657850" cy="5181600"/>
          </a:xfrm>
        </p:spPr>
        <p:txBody>
          <a:bodyPr/>
          <a:lstStyle/>
          <a:p>
            <a:endParaRPr lang="es-ES" altLang="es-ES"/>
          </a:p>
        </p:txBody>
      </p:sp>
    </p:spTree>
    <p:extLst>
      <p:ext uri="{BB962C8B-B14F-4D97-AF65-F5344CB8AC3E}">
        <p14:creationId xmlns:p14="http://schemas.microsoft.com/office/powerpoint/2010/main" val="33232892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436346" y="1788454"/>
            <a:ext cx="6270922" cy="2098226"/>
          </a:xfrm>
        </p:spPr>
        <p:txBody>
          <a:bodyPr anchor="b">
            <a:noAutofit/>
          </a:bodyPr>
          <a:lstStyle>
            <a:lvl1pPr algn="ctr">
              <a:defRPr sz="6000" cap="all" baseline="0">
                <a:solidFill>
                  <a:schemeClr val="tx2"/>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009930" y="3956280"/>
            <a:ext cx="5123755" cy="1086237"/>
          </a:xfrm>
        </p:spPr>
        <p:txBody>
          <a:bodyPr>
            <a:normAutofit/>
          </a:bodyPr>
          <a:lstStyle>
            <a:lvl1pPr marL="0" indent="0" algn="ctr">
              <a:lnSpc>
                <a:spcPct val="112000"/>
              </a:lnSpc>
              <a:spcBef>
                <a:spcPts val="0"/>
              </a:spcBef>
              <a:spcAft>
                <a:spcPts val="0"/>
              </a:spcAft>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564644" y="6453386"/>
            <a:ext cx="1205958" cy="404614"/>
          </a:xfrm>
        </p:spPr>
        <p:txBody>
          <a:bodyPr/>
          <a:lstStyle>
            <a:lvl1pPr>
              <a:defRPr baseline="0">
                <a:solidFill>
                  <a:schemeClr val="tx2"/>
                </a:solidFill>
              </a:defRPr>
            </a:lvl1pPr>
          </a:lstStyle>
          <a:p>
            <a:endParaRPr lang="en-US" altLang="es-ES"/>
          </a:p>
        </p:txBody>
      </p:sp>
      <p:sp>
        <p:nvSpPr>
          <p:cNvPr id="5" name="Footer Placeholder 4"/>
          <p:cNvSpPr>
            <a:spLocks noGrp="1"/>
          </p:cNvSpPr>
          <p:nvPr>
            <p:ph type="ftr" sz="quarter" idx="11"/>
          </p:nvPr>
        </p:nvSpPr>
        <p:spPr>
          <a:xfrm>
            <a:off x="1938041" y="6453386"/>
            <a:ext cx="5267533" cy="404614"/>
          </a:xfrm>
        </p:spPr>
        <p:txBody>
          <a:bodyPr/>
          <a:lstStyle>
            <a:lvl1pPr algn="ctr">
              <a:defRPr baseline="0">
                <a:solidFill>
                  <a:schemeClr val="tx2"/>
                </a:solidFill>
              </a:defRPr>
            </a:lvl1pPr>
          </a:lstStyle>
          <a:p>
            <a:endParaRPr lang="en-US" altLang="es-ES"/>
          </a:p>
        </p:txBody>
      </p:sp>
      <p:sp>
        <p:nvSpPr>
          <p:cNvPr id="6" name="Slide Number Placeholder 5"/>
          <p:cNvSpPr>
            <a:spLocks noGrp="1"/>
          </p:cNvSpPr>
          <p:nvPr>
            <p:ph type="sldNum" sz="quarter" idx="12"/>
          </p:nvPr>
        </p:nvSpPr>
        <p:spPr>
          <a:xfrm>
            <a:off x="7373012" y="6453386"/>
            <a:ext cx="1197219" cy="404614"/>
          </a:xfrm>
        </p:spPr>
        <p:txBody>
          <a:bodyPr/>
          <a:lstStyle>
            <a:lvl1pPr>
              <a:defRPr baseline="0">
                <a:solidFill>
                  <a:schemeClr val="tx2"/>
                </a:solidFill>
              </a:defRPr>
            </a:lvl1pPr>
          </a:lstStyle>
          <a:p>
            <a:fld id="{E3A137DB-1B2F-7848-B8FF-56047CEC3AA7}" type="slidenum">
              <a:rPr lang="en-US" altLang="es-ES" smtClean="0"/>
              <a:pPr/>
              <a:t>‹Nº›</a:t>
            </a:fld>
            <a:endParaRPr lang="en-US" altLang="es-ES"/>
          </a:p>
        </p:txBody>
      </p:sp>
      <p:grpSp>
        <p:nvGrpSpPr>
          <p:cNvPr id="8" name="Group 7"/>
          <p:cNvGrpSpPr/>
          <p:nvPr/>
        </p:nvGrpSpPr>
        <p:grpSpPr>
          <a:xfrm>
            <a:off x="564643" y="744469"/>
            <a:ext cx="8005589" cy="5349671"/>
            <a:chOff x="564643" y="744469"/>
            <a:chExt cx="8005589" cy="5349671"/>
          </a:xfrm>
        </p:grpSpPr>
        <p:sp>
          <p:nvSpPr>
            <p:cNvPr id="11" name="Freeform 6"/>
            <p:cNvSpPr/>
            <p:nvPr/>
          </p:nvSpPr>
          <p:spPr bwMode="auto">
            <a:xfrm>
              <a:off x="6113972" y="1685652"/>
              <a:ext cx="2456260" cy="4408488"/>
            </a:xfrm>
            <a:custGeom>
              <a:avLst/>
              <a:gdLst/>
              <a:ahLst/>
              <a:cxnLst/>
              <a:rect l="l" t="t" r="r" b="b"/>
              <a:pathLst>
                <a:path w="10000" h="10000">
                  <a:moveTo>
                    <a:pt x="8761" y="0"/>
                  </a:moveTo>
                  <a:lnTo>
                    <a:pt x="10000" y="0"/>
                  </a:lnTo>
                  <a:lnTo>
                    <a:pt x="10000" y="10000"/>
                  </a:lnTo>
                  <a:lnTo>
                    <a:pt x="0" y="10000"/>
                  </a:lnTo>
                  <a:lnTo>
                    <a:pt x="0" y="9357"/>
                  </a:lnTo>
                  <a:lnTo>
                    <a:pt x="8761" y="9357"/>
                  </a:lnTo>
                  <a:lnTo>
                    <a:pt x="8761" y="0"/>
                  </a:lnTo>
                  <a:close/>
                </a:path>
              </a:pathLst>
            </a:custGeom>
            <a:solidFill>
              <a:schemeClr val="tx2"/>
            </a:solidFill>
            <a:ln w="0">
              <a:noFill/>
              <a:prstDash val="solid"/>
              <a:round/>
              <a:headEnd/>
              <a:tailEnd/>
            </a:ln>
          </p:spPr>
          <p:txBody>
            <a:bodyPr/>
            <a:lstStyle/>
            <a:p>
              <a:endParaRPr lang="es-ES"/>
            </a:p>
          </p:txBody>
        </p:sp>
        <p:sp>
          <p:nvSpPr>
            <p:cNvPr id="14" name="Freeform 6"/>
            <p:cNvSpPr/>
            <p:nvPr/>
          </p:nvSpPr>
          <p:spPr bwMode="auto">
            <a:xfrm flipH="1" flipV="1">
              <a:off x="564643" y="744469"/>
              <a:ext cx="2456505" cy="4408488"/>
            </a:xfrm>
            <a:custGeom>
              <a:avLst/>
              <a:gdLst/>
              <a:ahLst/>
              <a:cxnLst/>
              <a:rect l="l" t="t" r="r" b="b"/>
              <a:pathLst>
                <a:path w="10001" h="10000">
                  <a:moveTo>
                    <a:pt x="8762" y="0"/>
                  </a:moveTo>
                  <a:lnTo>
                    <a:pt x="10001" y="0"/>
                  </a:lnTo>
                  <a:lnTo>
                    <a:pt x="10001" y="10000"/>
                  </a:lnTo>
                  <a:lnTo>
                    <a:pt x="1" y="10000"/>
                  </a:lnTo>
                  <a:cubicBezTo>
                    <a:pt x="-2" y="9766"/>
                    <a:pt x="4" y="9586"/>
                    <a:pt x="1" y="9352"/>
                  </a:cubicBezTo>
                  <a:lnTo>
                    <a:pt x="8762" y="9346"/>
                  </a:lnTo>
                  <a:lnTo>
                    <a:pt x="8762" y="0"/>
                  </a:lnTo>
                  <a:close/>
                </a:path>
              </a:pathLst>
            </a:custGeom>
            <a:solidFill>
              <a:schemeClr val="tx2"/>
            </a:solidFill>
            <a:ln w="0">
              <a:noFill/>
              <a:prstDash val="solid"/>
              <a:round/>
              <a:headEnd/>
              <a:tailEnd/>
            </a:ln>
          </p:spPr>
          <p:txBody>
            <a:bodyPr/>
            <a:lstStyle/>
            <a:p>
              <a:endParaRPr lang="es-ES"/>
            </a:p>
          </p:txBody>
        </p:sp>
      </p:grpSp>
    </p:spTree>
    <p:extLst>
      <p:ext uri="{BB962C8B-B14F-4D97-AF65-F5344CB8AC3E}">
        <p14:creationId xmlns:p14="http://schemas.microsoft.com/office/powerpoint/2010/main" val="2339436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n-US" altLang="es-ES"/>
          </a:p>
        </p:txBody>
      </p:sp>
      <p:sp>
        <p:nvSpPr>
          <p:cNvPr id="5" name="Footer Placeholder 4"/>
          <p:cNvSpPr>
            <a:spLocks noGrp="1"/>
          </p:cNvSpPr>
          <p:nvPr>
            <p:ph type="ftr" sz="quarter" idx="11"/>
          </p:nvPr>
        </p:nvSpPr>
        <p:spPr/>
        <p:txBody>
          <a:bodyPr/>
          <a:lstStyle/>
          <a:p>
            <a:endParaRPr lang="en-US" altLang="es-ES"/>
          </a:p>
        </p:txBody>
      </p:sp>
      <p:sp>
        <p:nvSpPr>
          <p:cNvPr id="6" name="Slide Number Placeholder 5"/>
          <p:cNvSpPr>
            <a:spLocks noGrp="1"/>
          </p:cNvSpPr>
          <p:nvPr>
            <p:ph type="sldNum" sz="quarter" idx="12"/>
          </p:nvPr>
        </p:nvSpPr>
        <p:spPr/>
        <p:txBody>
          <a:bodyPr/>
          <a:lstStyle/>
          <a:p>
            <a:fld id="{5F5CBBEC-CAD4-6A42-9E04-BE3357A42B64}" type="slidenum">
              <a:rPr lang="en-US" altLang="es-ES" smtClean="0"/>
              <a:pPr/>
              <a:t>‹Nº›</a:t>
            </a:fld>
            <a:endParaRPr lang="en-US" altLang="es-ES"/>
          </a:p>
        </p:txBody>
      </p:sp>
    </p:spTree>
    <p:extLst>
      <p:ext uri="{BB962C8B-B14F-4D97-AF65-F5344CB8AC3E}">
        <p14:creationId xmlns:p14="http://schemas.microsoft.com/office/powerpoint/2010/main" val="9543058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73769" y="1301361"/>
            <a:ext cx="7209728" cy="2852737"/>
          </a:xfrm>
        </p:spPr>
        <p:txBody>
          <a:bodyPr anchor="b">
            <a:normAutofit/>
          </a:bodyPr>
          <a:lstStyle>
            <a:lvl1pPr algn="r">
              <a:defRPr sz="6000" cap="all" baseline="0">
                <a:solidFill>
                  <a:schemeClr val="tx2"/>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573769" y="4216328"/>
            <a:ext cx="7209728" cy="1143324"/>
          </a:xfrm>
        </p:spPr>
        <p:txBody>
          <a:bodyPr/>
          <a:lstStyle>
            <a:lvl1pPr marL="0" indent="0" algn="r">
              <a:lnSpc>
                <a:spcPct val="112000"/>
              </a:lnSpc>
              <a:spcBef>
                <a:spcPts val="0"/>
              </a:spcBef>
              <a:spcAft>
                <a:spcPts val="0"/>
              </a:spcAft>
              <a:buNone/>
              <a:defRPr sz="1800">
                <a:solidFill>
                  <a:schemeClr val="tx2"/>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a:xfrm>
            <a:off x="554181" y="6453386"/>
            <a:ext cx="1216807" cy="404614"/>
          </a:xfrm>
        </p:spPr>
        <p:txBody>
          <a:bodyPr/>
          <a:lstStyle>
            <a:lvl1pPr>
              <a:defRPr>
                <a:solidFill>
                  <a:schemeClr val="tx2"/>
                </a:solidFill>
              </a:defRPr>
            </a:lvl1pPr>
          </a:lstStyle>
          <a:p>
            <a:endParaRPr lang="en-US" altLang="es-ES"/>
          </a:p>
        </p:txBody>
      </p:sp>
      <p:sp>
        <p:nvSpPr>
          <p:cNvPr id="5" name="Footer Placeholder 4"/>
          <p:cNvSpPr>
            <a:spLocks noGrp="1"/>
          </p:cNvSpPr>
          <p:nvPr>
            <p:ph type="ftr" sz="quarter" idx="11"/>
          </p:nvPr>
        </p:nvSpPr>
        <p:spPr>
          <a:xfrm>
            <a:off x="1938234" y="6453386"/>
            <a:ext cx="5267533" cy="404614"/>
          </a:xfrm>
        </p:spPr>
        <p:txBody>
          <a:bodyPr/>
          <a:lstStyle>
            <a:lvl1pPr algn="ctr">
              <a:defRPr>
                <a:solidFill>
                  <a:schemeClr val="tx2"/>
                </a:solidFill>
              </a:defRPr>
            </a:lvl1pPr>
          </a:lstStyle>
          <a:p>
            <a:endParaRPr lang="en-US" altLang="es-ES"/>
          </a:p>
        </p:txBody>
      </p:sp>
      <p:sp>
        <p:nvSpPr>
          <p:cNvPr id="6" name="Slide Number Placeholder 5"/>
          <p:cNvSpPr>
            <a:spLocks noGrp="1"/>
          </p:cNvSpPr>
          <p:nvPr>
            <p:ph type="sldNum" sz="quarter" idx="12"/>
          </p:nvPr>
        </p:nvSpPr>
        <p:spPr>
          <a:xfrm>
            <a:off x="7373012" y="6453386"/>
            <a:ext cx="1197219" cy="404614"/>
          </a:xfrm>
        </p:spPr>
        <p:txBody>
          <a:bodyPr/>
          <a:lstStyle>
            <a:lvl1pPr>
              <a:defRPr>
                <a:solidFill>
                  <a:schemeClr val="tx2"/>
                </a:solidFill>
              </a:defRPr>
            </a:lvl1pPr>
          </a:lstStyle>
          <a:p>
            <a:fld id="{1E29581E-4DBC-6B48-8A2C-0A490E7C21D0}" type="slidenum">
              <a:rPr lang="en-US" altLang="es-ES" smtClean="0"/>
              <a:pPr/>
              <a:t>‹Nº›</a:t>
            </a:fld>
            <a:endParaRPr lang="en-US" altLang="es-ES"/>
          </a:p>
        </p:txBody>
      </p:sp>
      <p:sp>
        <p:nvSpPr>
          <p:cNvPr id="7" name="Freeform 6"/>
          <p:cNvSpPr/>
          <p:nvPr/>
        </p:nvSpPr>
        <p:spPr bwMode="auto">
          <a:xfrm>
            <a:off x="6113972" y="1685652"/>
            <a:ext cx="2456260"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bg2"/>
          </a:solidFill>
          <a:ln w="0">
            <a:noFill/>
            <a:prstDash val="solid"/>
            <a:round/>
            <a:headEnd/>
            <a:tailEnd/>
          </a:ln>
        </p:spPr>
      </p:sp>
      <p:sp>
        <p:nvSpPr>
          <p:cNvPr id="8" name="Freeform 7" title="Crop Mark"/>
          <p:cNvSpPr/>
          <p:nvPr/>
        </p:nvSpPr>
        <p:spPr bwMode="auto">
          <a:xfrm>
            <a:off x="6113972" y="1685652"/>
            <a:ext cx="2456260"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377130882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28700" y="2286000"/>
            <a:ext cx="3335840"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894052" y="2286000"/>
            <a:ext cx="3335840"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endParaRPr lang="en-US" altLang="es-ES"/>
          </a:p>
        </p:txBody>
      </p:sp>
      <p:sp>
        <p:nvSpPr>
          <p:cNvPr id="6" name="Footer Placeholder 5"/>
          <p:cNvSpPr>
            <a:spLocks noGrp="1"/>
          </p:cNvSpPr>
          <p:nvPr>
            <p:ph type="ftr" sz="quarter" idx="11"/>
          </p:nvPr>
        </p:nvSpPr>
        <p:spPr/>
        <p:txBody>
          <a:bodyPr/>
          <a:lstStyle/>
          <a:p>
            <a:endParaRPr lang="en-US" altLang="es-ES"/>
          </a:p>
        </p:txBody>
      </p:sp>
      <p:sp>
        <p:nvSpPr>
          <p:cNvPr id="7" name="Slide Number Placeholder 6"/>
          <p:cNvSpPr>
            <a:spLocks noGrp="1"/>
          </p:cNvSpPr>
          <p:nvPr>
            <p:ph type="sldNum" sz="quarter" idx="12"/>
          </p:nvPr>
        </p:nvSpPr>
        <p:spPr/>
        <p:txBody>
          <a:bodyPr/>
          <a:lstStyle/>
          <a:p>
            <a:fld id="{2120E5C5-4D1E-C942-A021-9E696C1F931D}" type="slidenum">
              <a:rPr lang="en-US" altLang="es-ES" smtClean="0"/>
              <a:pPr/>
              <a:t>‹Nº›</a:t>
            </a:fld>
            <a:endParaRPr lang="en-US" altLang="es-ES"/>
          </a:p>
        </p:txBody>
      </p:sp>
    </p:spTree>
    <p:extLst>
      <p:ext uri="{BB962C8B-B14F-4D97-AF65-F5344CB8AC3E}">
        <p14:creationId xmlns:p14="http://schemas.microsoft.com/office/powerpoint/2010/main" val="1966528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028700" y="685800"/>
            <a:ext cx="7200900" cy="1485900"/>
          </a:xfrm>
        </p:spPr>
        <p:txBody>
          <a:bodyPr/>
          <a:lstStyle>
            <a:lvl1pPr>
              <a:defRPr>
                <a:solidFill>
                  <a:schemeClr val="tx2"/>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28700" y="2340230"/>
            <a:ext cx="3335840" cy="823912"/>
          </a:xfrm>
        </p:spPr>
        <p:txBody>
          <a:bodyPr anchor="b">
            <a:noAutofit/>
          </a:bodyPr>
          <a:lstStyle>
            <a:lvl1pPr marL="0" indent="0">
              <a:lnSpc>
                <a:spcPct val="84000"/>
              </a:lnSpc>
              <a:spcBef>
                <a:spcPts val="0"/>
              </a:spcBef>
              <a:spcAft>
                <a:spcPts val="0"/>
              </a:spcAft>
              <a:buNone/>
              <a:defRPr sz="240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4" name="Content Placeholder 3"/>
          <p:cNvSpPr>
            <a:spLocks noGrp="1"/>
          </p:cNvSpPr>
          <p:nvPr>
            <p:ph sz="half" idx="2"/>
          </p:nvPr>
        </p:nvSpPr>
        <p:spPr>
          <a:xfrm>
            <a:off x="1028700" y="3305208"/>
            <a:ext cx="3335839"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893760" y="2349754"/>
            <a:ext cx="3335840" cy="823912"/>
          </a:xfrm>
        </p:spPr>
        <p:txBody>
          <a:bodyPr anchor="b">
            <a:noAutofit/>
          </a:bodyPr>
          <a:lstStyle>
            <a:lvl1pPr marL="0" indent="0">
              <a:lnSpc>
                <a:spcPct val="84000"/>
              </a:lnSpc>
              <a:spcBef>
                <a:spcPts val="0"/>
              </a:spcBef>
              <a:spcAft>
                <a:spcPts val="0"/>
              </a:spcAft>
              <a:buNone/>
              <a:defRPr sz="240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6" name="Content Placeholder 5"/>
          <p:cNvSpPr>
            <a:spLocks noGrp="1"/>
          </p:cNvSpPr>
          <p:nvPr>
            <p:ph sz="quarter" idx="4"/>
          </p:nvPr>
        </p:nvSpPr>
        <p:spPr>
          <a:xfrm>
            <a:off x="4893760" y="3305208"/>
            <a:ext cx="3335840"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endParaRPr lang="en-US" altLang="es-ES"/>
          </a:p>
        </p:txBody>
      </p:sp>
      <p:sp>
        <p:nvSpPr>
          <p:cNvPr id="8" name="Footer Placeholder 7"/>
          <p:cNvSpPr>
            <a:spLocks noGrp="1"/>
          </p:cNvSpPr>
          <p:nvPr>
            <p:ph type="ftr" sz="quarter" idx="11"/>
          </p:nvPr>
        </p:nvSpPr>
        <p:spPr/>
        <p:txBody>
          <a:bodyPr/>
          <a:lstStyle/>
          <a:p>
            <a:endParaRPr lang="en-US" altLang="es-ES"/>
          </a:p>
        </p:txBody>
      </p:sp>
      <p:sp>
        <p:nvSpPr>
          <p:cNvPr id="9" name="Slide Number Placeholder 8"/>
          <p:cNvSpPr>
            <a:spLocks noGrp="1"/>
          </p:cNvSpPr>
          <p:nvPr>
            <p:ph type="sldNum" sz="quarter" idx="12"/>
          </p:nvPr>
        </p:nvSpPr>
        <p:spPr/>
        <p:txBody>
          <a:bodyPr/>
          <a:lstStyle/>
          <a:p>
            <a:fld id="{F1BAAE24-69D3-3F4A-B89E-78B95F17CC80}" type="slidenum">
              <a:rPr lang="en-US" altLang="es-ES" smtClean="0"/>
              <a:pPr/>
              <a:t>‹Nº›</a:t>
            </a:fld>
            <a:endParaRPr lang="en-US" altLang="es-ES"/>
          </a:p>
        </p:txBody>
      </p:sp>
    </p:spTree>
    <p:extLst>
      <p:ext uri="{BB962C8B-B14F-4D97-AF65-F5344CB8AC3E}">
        <p14:creationId xmlns:p14="http://schemas.microsoft.com/office/powerpoint/2010/main" val="383053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endParaRPr lang="en-US" altLang="es-ES"/>
          </a:p>
        </p:txBody>
      </p:sp>
      <p:sp>
        <p:nvSpPr>
          <p:cNvPr id="4" name="Footer Placeholder 3"/>
          <p:cNvSpPr>
            <a:spLocks noGrp="1"/>
          </p:cNvSpPr>
          <p:nvPr>
            <p:ph type="ftr" sz="quarter" idx="11"/>
          </p:nvPr>
        </p:nvSpPr>
        <p:spPr/>
        <p:txBody>
          <a:bodyPr/>
          <a:lstStyle/>
          <a:p>
            <a:endParaRPr lang="en-US" altLang="es-ES"/>
          </a:p>
        </p:txBody>
      </p:sp>
      <p:sp>
        <p:nvSpPr>
          <p:cNvPr id="5" name="Slide Number Placeholder 4"/>
          <p:cNvSpPr>
            <a:spLocks noGrp="1"/>
          </p:cNvSpPr>
          <p:nvPr>
            <p:ph type="sldNum" sz="quarter" idx="12"/>
          </p:nvPr>
        </p:nvSpPr>
        <p:spPr/>
        <p:txBody>
          <a:bodyPr/>
          <a:lstStyle/>
          <a:p>
            <a:fld id="{8BBE0FF1-8024-D64F-B641-1058D5904687}" type="slidenum">
              <a:rPr lang="en-US" altLang="es-ES" smtClean="0"/>
              <a:pPr/>
              <a:t>‹Nº›</a:t>
            </a:fld>
            <a:endParaRPr lang="en-US" altLang="es-ES"/>
          </a:p>
        </p:txBody>
      </p:sp>
    </p:spTree>
    <p:extLst>
      <p:ext uri="{BB962C8B-B14F-4D97-AF65-F5344CB8AC3E}">
        <p14:creationId xmlns:p14="http://schemas.microsoft.com/office/powerpoint/2010/main" val="3501333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ltLang="es-ES"/>
          </a:p>
        </p:txBody>
      </p:sp>
      <p:sp>
        <p:nvSpPr>
          <p:cNvPr id="3" name="Footer Placeholder 2"/>
          <p:cNvSpPr>
            <a:spLocks noGrp="1"/>
          </p:cNvSpPr>
          <p:nvPr>
            <p:ph type="ftr" sz="quarter" idx="11"/>
          </p:nvPr>
        </p:nvSpPr>
        <p:spPr/>
        <p:txBody>
          <a:bodyPr/>
          <a:lstStyle/>
          <a:p>
            <a:endParaRPr lang="en-US" altLang="es-ES"/>
          </a:p>
        </p:txBody>
      </p:sp>
      <p:sp>
        <p:nvSpPr>
          <p:cNvPr id="4" name="Slide Number Placeholder 3"/>
          <p:cNvSpPr>
            <a:spLocks noGrp="1"/>
          </p:cNvSpPr>
          <p:nvPr>
            <p:ph type="sldNum" sz="quarter" idx="12"/>
          </p:nvPr>
        </p:nvSpPr>
        <p:spPr/>
        <p:txBody>
          <a:bodyPr/>
          <a:lstStyle/>
          <a:p>
            <a:fld id="{14973447-C150-3C40-8800-4856EFD5F121}" type="slidenum">
              <a:rPr lang="en-US" altLang="es-ES" smtClean="0"/>
              <a:pPr/>
              <a:t>‹Nº›</a:t>
            </a:fld>
            <a:endParaRPr lang="en-US" altLang="es-ES"/>
          </a:p>
        </p:txBody>
      </p:sp>
    </p:spTree>
    <p:extLst>
      <p:ext uri="{BB962C8B-B14F-4D97-AF65-F5344CB8AC3E}">
        <p14:creationId xmlns:p14="http://schemas.microsoft.com/office/powerpoint/2010/main" val="450595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title="Background Shape"/>
          <p:cNvSpPr/>
          <p:nvPr/>
        </p:nvSpPr>
        <p:spPr>
          <a:xfrm>
            <a:off x="0" y="376"/>
            <a:ext cx="397764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2925" y="685800"/>
            <a:ext cx="2891790" cy="2157884"/>
          </a:xfrm>
        </p:spPr>
        <p:txBody>
          <a:bodyPr anchor="t">
            <a:noAutofit/>
          </a:bodyPr>
          <a:lstStyle>
            <a:lvl1pPr>
              <a:lnSpc>
                <a:spcPct val="84000"/>
              </a:lnSpc>
              <a:defRPr sz="4400" baseline="0">
                <a:solidFill>
                  <a:schemeClr val="tx2"/>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692015" y="685801"/>
            <a:ext cx="3909060" cy="5175250"/>
          </a:xfrm>
        </p:spPr>
        <p:txBody>
          <a:bodyPr/>
          <a:lstStyle>
            <a:lvl1pPr>
              <a:defRPr sz="1500"/>
            </a:lvl1pPr>
            <a:lvl2pPr>
              <a:defRPr sz="1500"/>
            </a:lvl2pPr>
            <a:lvl3pPr>
              <a:defRPr sz="1350"/>
            </a:lvl3pPr>
            <a:lvl4pPr>
              <a:defRPr sz="135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542925" y="2856344"/>
            <a:ext cx="2891790" cy="3011056"/>
          </a:xfrm>
        </p:spPr>
        <p:txBody>
          <a:bodyPr>
            <a:normAutofit/>
          </a:bodyPr>
          <a:lstStyle>
            <a:lvl1pPr marL="0" indent="0">
              <a:lnSpc>
                <a:spcPct val="113000"/>
              </a:lnSpc>
              <a:spcBef>
                <a:spcPts val="0"/>
              </a:spcBef>
              <a:spcAft>
                <a:spcPts val="1500"/>
              </a:spcAft>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a:xfrm>
            <a:off x="542925" y="6453386"/>
            <a:ext cx="903429" cy="404614"/>
          </a:xfrm>
        </p:spPr>
        <p:txBody>
          <a:bodyPr/>
          <a:lstStyle>
            <a:lvl1pPr>
              <a:defRPr>
                <a:solidFill>
                  <a:schemeClr val="tx2"/>
                </a:solidFill>
              </a:defRPr>
            </a:lvl1pPr>
          </a:lstStyle>
          <a:p>
            <a:endParaRPr lang="en-US" altLang="es-ES"/>
          </a:p>
        </p:txBody>
      </p:sp>
      <p:sp>
        <p:nvSpPr>
          <p:cNvPr id="6" name="Footer Placeholder 5"/>
          <p:cNvSpPr>
            <a:spLocks noGrp="1"/>
          </p:cNvSpPr>
          <p:nvPr>
            <p:ph type="ftr" sz="quarter" idx="11"/>
          </p:nvPr>
        </p:nvSpPr>
        <p:spPr>
          <a:xfrm>
            <a:off x="1654459" y="6453386"/>
            <a:ext cx="1780256" cy="404614"/>
          </a:xfrm>
        </p:spPr>
        <p:txBody>
          <a:bodyPr/>
          <a:lstStyle>
            <a:lvl1pPr>
              <a:defRPr>
                <a:solidFill>
                  <a:schemeClr val="tx2"/>
                </a:solidFill>
              </a:defRPr>
            </a:lvl1pPr>
          </a:lstStyle>
          <a:p>
            <a:endParaRPr lang="en-US" altLang="es-ES"/>
          </a:p>
        </p:txBody>
      </p:sp>
      <p:sp>
        <p:nvSpPr>
          <p:cNvPr id="7" name="Slide Number Placeholder 6"/>
          <p:cNvSpPr>
            <a:spLocks noGrp="1"/>
          </p:cNvSpPr>
          <p:nvPr>
            <p:ph type="sldNum" sz="quarter" idx="12"/>
          </p:nvPr>
        </p:nvSpPr>
        <p:spPr>
          <a:xfrm>
            <a:off x="7412355" y="6453386"/>
            <a:ext cx="1197219" cy="404614"/>
          </a:xfrm>
        </p:spPr>
        <p:txBody>
          <a:bodyPr/>
          <a:lstStyle>
            <a:lvl1pPr>
              <a:defRPr>
                <a:solidFill>
                  <a:schemeClr val="tx2"/>
                </a:solidFill>
              </a:defRPr>
            </a:lvl1pPr>
          </a:lstStyle>
          <a:p>
            <a:fld id="{26ED638C-F277-E04E-9F12-F374386EE3A6}" type="slidenum">
              <a:rPr lang="en-US" altLang="es-ES" smtClean="0"/>
              <a:pPr/>
              <a:t>‹Nº›</a:t>
            </a:fld>
            <a:endParaRPr lang="en-US" altLang="es-ES"/>
          </a:p>
        </p:txBody>
      </p:sp>
      <p:sp>
        <p:nvSpPr>
          <p:cNvPr id="9" name="Rectangle 8"/>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title="Divider Bar"/>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6139176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title="Background Shape"/>
          <p:cNvSpPr/>
          <p:nvPr/>
        </p:nvSpPr>
        <p:spPr>
          <a:xfrm>
            <a:off x="0" y="376"/>
            <a:ext cx="397764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2925" y="685800"/>
            <a:ext cx="2891790" cy="2157884"/>
          </a:xfrm>
        </p:spPr>
        <p:txBody>
          <a:bodyPr anchor="t">
            <a:normAutofit/>
          </a:bodyPr>
          <a:lstStyle>
            <a:lvl1pPr>
              <a:lnSpc>
                <a:spcPct val="84000"/>
              </a:lnSpc>
              <a:defRPr sz="4400" baseline="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149090" y="1"/>
            <a:ext cx="4994910" cy="6857999"/>
          </a:xfrm>
        </p:spPr>
        <p:txBody>
          <a:bodyPr anchor="t">
            <a:normAutofit/>
          </a:bodyPr>
          <a:lstStyle>
            <a:lvl1pPr marL="0" indent="0">
              <a:buNone/>
              <a:defRPr sz="1500"/>
            </a:lvl1pPr>
            <a:lvl2pPr marL="342900" indent="0">
              <a:buNone/>
              <a:defRPr sz="1500"/>
            </a:lvl2pPr>
            <a:lvl3pPr marL="685800" indent="0">
              <a:buNone/>
              <a:defRPr sz="15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542925" y="2855968"/>
            <a:ext cx="2891790" cy="3011432"/>
          </a:xfrm>
        </p:spPr>
        <p:txBody>
          <a:bodyPr>
            <a:normAutofit/>
          </a:bodyPr>
          <a:lstStyle>
            <a:lvl1pPr marL="0" indent="0">
              <a:lnSpc>
                <a:spcPct val="113000"/>
              </a:lnSpc>
              <a:spcBef>
                <a:spcPts val="0"/>
              </a:spcBef>
              <a:spcAft>
                <a:spcPts val="1500"/>
              </a:spcAft>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a:xfrm>
            <a:off x="542925" y="6453386"/>
            <a:ext cx="903429" cy="404614"/>
          </a:xfrm>
        </p:spPr>
        <p:txBody>
          <a:bodyPr/>
          <a:lstStyle>
            <a:lvl1pPr>
              <a:defRPr>
                <a:solidFill>
                  <a:schemeClr val="tx2"/>
                </a:solidFill>
              </a:defRPr>
            </a:lvl1pPr>
          </a:lstStyle>
          <a:p>
            <a:endParaRPr lang="en-US" altLang="es-ES"/>
          </a:p>
        </p:txBody>
      </p:sp>
      <p:sp>
        <p:nvSpPr>
          <p:cNvPr id="6" name="Footer Placeholder 5"/>
          <p:cNvSpPr>
            <a:spLocks noGrp="1"/>
          </p:cNvSpPr>
          <p:nvPr>
            <p:ph type="ftr" sz="quarter" idx="11"/>
          </p:nvPr>
        </p:nvSpPr>
        <p:spPr>
          <a:xfrm>
            <a:off x="1654459" y="6453386"/>
            <a:ext cx="1780256" cy="404614"/>
          </a:xfrm>
        </p:spPr>
        <p:txBody>
          <a:bodyPr/>
          <a:lstStyle>
            <a:lvl1pPr>
              <a:defRPr>
                <a:solidFill>
                  <a:schemeClr val="tx2"/>
                </a:solidFill>
              </a:defRPr>
            </a:lvl1pPr>
          </a:lstStyle>
          <a:p>
            <a:endParaRPr lang="en-US" altLang="es-ES"/>
          </a:p>
        </p:txBody>
      </p:sp>
      <p:sp>
        <p:nvSpPr>
          <p:cNvPr id="7" name="Slide Number Placeholder 6"/>
          <p:cNvSpPr>
            <a:spLocks noGrp="1"/>
          </p:cNvSpPr>
          <p:nvPr>
            <p:ph type="sldNum" sz="quarter" idx="12"/>
          </p:nvPr>
        </p:nvSpPr>
        <p:spPr>
          <a:xfrm>
            <a:off x="7412355" y="6453386"/>
            <a:ext cx="1197219" cy="404614"/>
          </a:xfrm>
        </p:spPr>
        <p:txBody>
          <a:bodyPr/>
          <a:lstStyle>
            <a:lvl1pPr>
              <a:defRPr>
                <a:solidFill>
                  <a:schemeClr val="tx2"/>
                </a:solidFill>
              </a:defRPr>
            </a:lvl1pPr>
          </a:lstStyle>
          <a:p>
            <a:fld id="{F1BAAE24-69D3-3F4A-B89E-78B95F17CC80}" type="slidenum">
              <a:rPr lang="en-US" altLang="es-ES" smtClean="0"/>
              <a:pPr/>
              <a:t>‹Nº›</a:t>
            </a:fld>
            <a:endParaRPr lang="en-US" altLang="es-ES"/>
          </a:p>
        </p:txBody>
      </p:sp>
      <p:sp>
        <p:nvSpPr>
          <p:cNvPr id="9" name="Rectangle 8"/>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title="Divider Bar"/>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1033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28700" y="2295526"/>
            <a:ext cx="7200900" cy="3571875"/>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n-US" altLang="es-ES"/>
          </a:p>
        </p:txBody>
      </p:sp>
      <p:sp>
        <p:nvSpPr>
          <p:cNvPr id="5" name="Footer Placeholder 4"/>
          <p:cNvSpPr>
            <a:spLocks noGrp="1"/>
          </p:cNvSpPr>
          <p:nvPr>
            <p:ph type="ftr" sz="quarter" idx="11"/>
          </p:nvPr>
        </p:nvSpPr>
        <p:spPr/>
        <p:txBody>
          <a:bodyPr/>
          <a:lstStyle/>
          <a:p>
            <a:endParaRPr lang="en-US" altLang="es-ES"/>
          </a:p>
        </p:txBody>
      </p:sp>
      <p:sp>
        <p:nvSpPr>
          <p:cNvPr id="6" name="Slide Number Placeholder 5"/>
          <p:cNvSpPr>
            <a:spLocks noGrp="1"/>
          </p:cNvSpPr>
          <p:nvPr>
            <p:ph type="sldNum" sz="quarter" idx="12"/>
          </p:nvPr>
        </p:nvSpPr>
        <p:spPr/>
        <p:txBody>
          <a:bodyPr/>
          <a:lstStyle/>
          <a:p>
            <a:fld id="{F2151DDE-55E6-2B42-81B8-819C538CAB42}" type="slidenum">
              <a:rPr lang="en-US" altLang="es-ES" smtClean="0"/>
              <a:pPr/>
              <a:t>‹Nº›</a:t>
            </a:fld>
            <a:endParaRPr lang="en-US" altLang="es-ES"/>
          </a:p>
        </p:txBody>
      </p:sp>
    </p:spTree>
    <p:extLst>
      <p:ext uri="{BB962C8B-B14F-4D97-AF65-F5344CB8AC3E}">
        <p14:creationId xmlns:p14="http://schemas.microsoft.com/office/powerpoint/2010/main" val="2317545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80797" y="624156"/>
            <a:ext cx="1490950" cy="524324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28700" y="624156"/>
            <a:ext cx="5724525" cy="524324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n-US" altLang="es-ES"/>
          </a:p>
        </p:txBody>
      </p:sp>
      <p:sp>
        <p:nvSpPr>
          <p:cNvPr id="5" name="Footer Placeholder 4"/>
          <p:cNvSpPr>
            <a:spLocks noGrp="1"/>
          </p:cNvSpPr>
          <p:nvPr>
            <p:ph type="ftr" sz="quarter" idx="11"/>
          </p:nvPr>
        </p:nvSpPr>
        <p:spPr/>
        <p:txBody>
          <a:bodyPr/>
          <a:lstStyle/>
          <a:p>
            <a:endParaRPr lang="en-US" altLang="es-ES"/>
          </a:p>
        </p:txBody>
      </p:sp>
      <p:sp>
        <p:nvSpPr>
          <p:cNvPr id="6" name="Slide Number Placeholder 5"/>
          <p:cNvSpPr>
            <a:spLocks noGrp="1"/>
          </p:cNvSpPr>
          <p:nvPr>
            <p:ph type="sldNum" sz="quarter" idx="12"/>
          </p:nvPr>
        </p:nvSpPr>
        <p:spPr/>
        <p:txBody>
          <a:bodyPr/>
          <a:lstStyle/>
          <a:p>
            <a:fld id="{695EE8DD-2768-B044-85F3-74080EAAB9E5}" type="slidenum">
              <a:rPr lang="en-US" altLang="es-ES" smtClean="0"/>
              <a:pPr/>
              <a:t>‹Nº›</a:t>
            </a:fld>
            <a:endParaRPr lang="en-US" altLang="es-ES"/>
          </a:p>
        </p:txBody>
      </p:sp>
    </p:spTree>
    <p:extLst>
      <p:ext uri="{BB962C8B-B14F-4D97-AF65-F5344CB8AC3E}">
        <p14:creationId xmlns:p14="http://schemas.microsoft.com/office/powerpoint/2010/main" val="39118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8700" y="685800"/>
            <a:ext cx="7200900" cy="14859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28700" y="2286000"/>
            <a:ext cx="7200900" cy="35814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42987" y="6453386"/>
            <a:ext cx="903429" cy="404614"/>
          </a:xfrm>
          <a:prstGeom prst="rect">
            <a:avLst/>
          </a:prstGeom>
        </p:spPr>
        <p:txBody>
          <a:bodyPr vert="horz" lIns="91440" tIns="45720" rIns="91440" bIns="45720" rtlCol="0" anchor="ctr"/>
          <a:lstStyle>
            <a:lvl1pPr algn="l">
              <a:defRPr sz="1000" baseline="0">
                <a:solidFill>
                  <a:schemeClr val="tx2"/>
                </a:solidFill>
              </a:defRPr>
            </a:lvl1pPr>
          </a:lstStyle>
          <a:p>
            <a:endParaRPr lang="en-US" altLang="es-ES"/>
          </a:p>
        </p:txBody>
      </p:sp>
      <p:sp>
        <p:nvSpPr>
          <p:cNvPr id="5" name="Footer Placeholder 4"/>
          <p:cNvSpPr>
            <a:spLocks noGrp="1"/>
          </p:cNvSpPr>
          <p:nvPr>
            <p:ph type="ftr" sz="quarter" idx="3"/>
          </p:nvPr>
        </p:nvSpPr>
        <p:spPr>
          <a:xfrm>
            <a:off x="2170173" y="6453386"/>
            <a:ext cx="4710623" cy="404614"/>
          </a:xfrm>
          <a:prstGeom prst="rect">
            <a:avLst/>
          </a:prstGeom>
        </p:spPr>
        <p:txBody>
          <a:bodyPr vert="horz" lIns="91440" tIns="45720" rIns="91440" bIns="45720" rtlCol="0" anchor="ctr"/>
          <a:lstStyle>
            <a:lvl1pPr algn="l">
              <a:defRPr sz="1000" baseline="0">
                <a:solidFill>
                  <a:schemeClr val="tx2"/>
                </a:solidFill>
              </a:defRPr>
            </a:lvl1pPr>
          </a:lstStyle>
          <a:p>
            <a:endParaRPr lang="en-US" altLang="es-ES"/>
          </a:p>
        </p:txBody>
      </p:sp>
      <p:sp>
        <p:nvSpPr>
          <p:cNvPr id="6" name="Slide Number Placeholder 5"/>
          <p:cNvSpPr>
            <a:spLocks noGrp="1"/>
          </p:cNvSpPr>
          <p:nvPr>
            <p:ph type="sldNum" sz="quarter" idx="4"/>
          </p:nvPr>
        </p:nvSpPr>
        <p:spPr>
          <a:xfrm>
            <a:off x="7104552" y="6453386"/>
            <a:ext cx="1197219" cy="404614"/>
          </a:xfrm>
          <a:prstGeom prst="rect">
            <a:avLst/>
          </a:prstGeom>
        </p:spPr>
        <p:txBody>
          <a:bodyPr vert="horz" lIns="91440" tIns="45720" rIns="91440" bIns="45720" rtlCol="0" anchor="ctr"/>
          <a:lstStyle>
            <a:lvl1pPr algn="r">
              <a:defRPr sz="1000" baseline="0">
                <a:solidFill>
                  <a:schemeClr val="tx2"/>
                </a:solidFill>
              </a:defRPr>
            </a:lvl1pPr>
          </a:lstStyle>
          <a:p>
            <a:fld id="{F1BAAE24-69D3-3F4A-B89E-78B95F17CC80}" type="slidenum">
              <a:rPr lang="en-US" altLang="es-ES" smtClean="0"/>
              <a:pPr/>
              <a:t>‹Nº›</a:t>
            </a:fld>
            <a:endParaRPr lang="en-US" altLang="es-ES"/>
          </a:p>
        </p:txBody>
      </p:sp>
      <p:sp>
        <p:nvSpPr>
          <p:cNvPr id="9" name="Rectangle 8"/>
          <p:cNvSpPr/>
          <p:nvPr/>
        </p:nvSpPr>
        <p:spPr>
          <a:xfrm>
            <a:off x="358571"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8" name="Rectangle 7" title="Side bar"/>
          <p:cNvSpPr/>
          <p:nvPr/>
        </p:nvSpPr>
        <p:spPr>
          <a:xfrm>
            <a:off x="358571"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Tree>
    <p:extLst>
      <p:ext uri="{BB962C8B-B14F-4D97-AF65-F5344CB8AC3E}">
        <p14:creationId xmlns:p14="http://schemas.microsoft.com/office/powerpoint/2010/main" val="1731299633"/>
      </p:ext>
    </p:extLst>
  </p:cSld>
  <p:clrMap bg1="lt1" tx1="dk1" bg2="lt2" tx2="dk2" accent1="accent1" accent2="accent2" accent3="accent3" accent4="accent4" accent5="accent5" accent6="accent6" hlink="hlink" folHlink="folHlink"/>
  <p:sldLayoutIdLst>
    <p:sldLayoutId id="2147483912" r:id="rId1"/>
    <p:sldLayoutId id="2147483913" r:id="rId2"/>
    <p:sldLayoutId id="2147483914" r:id="rId3"/>
    <p:sldLayoutId id="2147483915" r:id="rId4"/>
    <p:sldLayoutId id="2147483916" r:id="rId5"/>
    <p:sldLayoutId id="2147483917" r:id="rId6"/>
    <p:sldLayoutId id="2147483918" r:id="rId7"/>
    <p:sldLayoutId id="2147483919" r:id="rId8"/>
    <p:sldLayoutId id="2147483920" r:id="rId9"/>
    <p:sldLayoutId id="2147483921" r:id="rId10"/>
    <p:sldLayoutId id="2147483922" r:id="rId11"/>
  </p:sldLayoutIdLst>
  <p:txStyles>
    <p:titleStyle>
      <a:lvl1pPr algn="l" defTabSz="6858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6858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1368">
          <p15:clr>
            <a:srgbClr val="F26B43"/>
          </p15:clr>
        </p15:guide>
        <p15:guide id="1" pos="6912">
          <p15:clr>
            <a:srgbClr val="F26B43"/>
          </p15:clr>
        </p15:guide>
        <p15:guide id="2" pos="936">
          <p15:clr>
            <a:srgbClr val="F26B43"/>
          </p15:clr>
        </p15:guide>
        <p15:guide id="3" pos="864">
          <p15:clr>
            <a:srgbClr val="F26B43"/>
          </p15:clr>
        </p15:guide>
        <p15:guide id="4" orient="horz" pos="1440">
          <p15:clr>
            <a:srgbClr val="F26B43"/>
          </p15:clr>
        </p15:guide>
        <p15:guide id="5" orient="horz" pos="3696">
          <p15:clr>
            <a:srgbClr val="F26B43"/>
          </p15:clr>
        </p15:guide>
        <p15:guide id="6" orient="horz" pos="432">
          <p15:clr>
            <a:srgbClr val="F26B43"/>
          </p15:clr>
        </p15:guide>
        <p15:guide id="7" orient="horz" pos="1512">
          <p15:clr>
            <a:srgbClr val="F26B43"/>
          </p15:clr>
        </p15:guide>
        <p15:guide id="8" pos="5184">
          <p15:clr>
            <a:srgbClr val="F26B43"/>
          </p15:clr>
        </p15:guide>
        <p15:guide id="9" pos="702">
          <p15:clr>
            <a:srgbClr val="F26B43"/>
          </p15:clr>
        </p15:guide>
        <p15:guide id="10" pos="64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AutoShape 2">
            <a:extLst>
              <a:ext uri="{FF2B5EF4-FFF2-40B4-BE49-F238E27FC236}">
                <a16:creationId xmlns:a16="http://schemas.microsoft.com/office/drawing/2014/main" id="{CD2A9755-B58C-81A1-BC58-6D84EA1D6F99}"/>
              </a:ext>
            </a:extLst>
          </p:cNvPr>
          <p:cNvSpPr>
            <a:spLocks noGrp="1" noChangeArrowheads="1"/>
          </p:cNvSpPr>
          <p:nvPr>
            <p:ph type="ctrTitle"/>
          </p:nvPr>
        </p:nvSpPr>
        <p:spPr>
          <a:xfrm>
            <a:off x="1436345" y="2549974"/>
            <a:ext cx="6270922" cy="2098226"/>
          </a:xfrm>
        </p:spPr>
        <p:txBody>
          <a:bodyPr/>
          <a:lstStyle/>
          <a:p>
            <a:r>
              <a:rPr lang="es-ES_tradnl" sz="4000" noProof="1"/>
              <a:t>TEMA 6.1. qué son y cómo se forman las actitudes  </a:t>
            </a:r>
            <a:br>
              <a:rPr lang="es-ES_tradnl" sz="4000" noProof="1"/>
            </a:br>
            <a:r>
              <a:rPr lang="es-ES_tradnl" sz="4000" noProof="1"/>
              <a:t>CLASE PRÁCTICA:</a:t>
            </a:r>
            <a:br>
              <a:rPr lang="es-ES_tradnl" sz="4000" noProof="1"/>
            </a:br>
            <a:r>
              <a:rPr lang="es-ES_tradnl" sz="4000" noProof="1"/>
              <a:t>DISONANCIA COGNITIVA</a:t>
            </a:r>
          </a:p>
        </p:txBody>
      </p:sp>
      <p:sp>
        <p:nvSpPr>
          <p:cNvPr id="3075" name="Rectangle 3">
            <a:extLst>
              <a:ext uri="{FF2B5EF4-FFF2-40B4-BE49-F238E27FC236}">
                <a16:creationId xmlns:a16="http://schemas.microsoft.com/office/drawing/2014/main" id="{77246525-DCC5-2AED-3B59-A78AFD481107}"/>
              </a:ext>
            </a:extLst>
          </p:cNvPr>
          <p:cNvSpPr>
            <a:spLocks noGrp="1" noChangeArrowheads="1"/>
          </p:cNvSpPr>
          <p:nvPr>
            <p:ph type="subTitle" idx="1"/>
          </p:nvPr>
        </p:nvSpPr>
        <p:spPr>
          <a:xfrm>
            <a:off x="2009929" y="4648200"/>
            <a:ext cx="5123755" cy="1086237"/>
          </a:xfrm>
        </p:spPr>
        <p:txBody>
          <a:bodyPr/>
          <a:lstStyle/>
          <a:p>
            <a:r>
              <a:rPr lang="es-ES_tradnl" noProof="1"/>
              <a:t>Josep García Coll</a:t>
            </a:r>
            <a:endParaRPr lang="es-ES_tradnl" noProof="1">
              <a:solidFill>
                <a:srgbClr val="333333"/>
              </a:solidFill>
              <a:latin typeface="ArialMT"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CA54B-B079-48F3-9525-AF6B678CE54D}"/>
              </a:ext>
            </a:extLst>
          </p:cNvPr>
          <p:cNvSpPr>
            <a:spLocks noGrp="1"/>
          </p:cNvSpPr>
          <p:nvPr>
            <p:ph type="title"/>
          </p:nvPr>
        </p:nvSpPr>
        <p:spPr>
          <a:xfrm>
            <a:off x="0" y="42327"/>
            <a:ext cx="8991600" cy="567273"/>
          </a:xfrm>
        </p:spPr>
        <p:txBody>
          <a:bodyPr>
            <a:normAutofit fontScale="90000"/>
          </a:bodyPr>
          <a:lstStyle/>
          <a:p>
            <a:pPr algn="ctr"/>
            <a:r>
              <a:rPr lang="es" sz="3000" dirty="0"/>
              <a:t>Conflicto interno en la vida cotidiana </a:t>
            </a:r>
            <a:br>
              <a:rPr lang="en-IE" sz="3300" dirty="0">
                <a:solidFill>
                  <a:srgbClr val="C00000"/>
                </a:solidFill>
              </a:rPr>
            </a:br>
            <a:endParaRPr lang="en-IE" dirty="0"/>
          </a:p>
        </p:txBody>
      </p:sp>
      <p:sp>
        <p:nvSpPr>
          <p:cNvPr id="34" name="Content Placeholder 2">
            <a:extLst>
              <a:ext uri="{FF2B5EF4-FFF2-40B4-BE49-F238E27FC236}">
                <a16:creationId xmlns:a16="http://schemas.microsoft.com/office/drawing/2014/main" id="{88458D1B-1F11-431A-A317-551404AFC455}"/>
              </a:ext>
            </a:extLst>
          </p:cNvPr>
          <p:cNvSpPr>
            <a:spLocks noGrp="1"/>
          </p:cNvSpPr>
          <p:nvPr>
            <p:ph sz="half" idx="1"/>
          </p:nvPr>
        </p:nvSpPr>
        <p:spPr>
          <a:xfrm>
            <a:off x="685800" y="2531428"/>
            <a:ext cx="8305800" cy="2917389"/>
          </a:xfrm>
        </p:spPr>
        <p:txBody>
          <a:bodyPr>
            <a:normAutofit fontScale="25000" lnSpcReduction="20000"/>
          </a:bodyPr>
          <a:lstStyle/>
          <a:p>
            <a:pPr marL="0" indent="0" algn="just">
              <a:buNone/>
              <a:defRPr/>
            </a:pPr>
            <a:r>
              <a:rPr lang="es" sz="8000" dirty="0">
                <a:solidFill>
                  <a:srgbClr val="C00000"/>
                </a:solidFill>
              </a:rPr>
              <a:t>1) ¿Puedes recordar cómo te sentiste en ese momento?</a:t>
            </a:r>
            <a:endParaRPr lang="en-IE" sz="8000" dirty="0">
              <a:solidFill>
                <a:srgbClr val="C00000"/>
              </a:solidFill>
            </a:endParaRPr>
          </a:p>
          <a:p>
            <a:pPr marL="0" indent="0">
              <a:buNone/>
              <a:defRPr/>
            </a:pPr>
            <a:r>
              <a:rPr lang="es" sz="8000" dirty="0">
                <a:solidFill>
                  <a:srgbClr val="C00000"/>
                </a:solidFill>
              </a:rPr>
              <a:t>2) ¿Qué tipo de conflicto interno puede estar involucrado en esta situación?</a:t>
            </a:r>
          </a:p>
          <a:p>
            <a:pPr marL="0" indent="0">
              <a:buNone/>
              <a:defRPr/>
            </a:pPr>
            <a:endParaRPr lang="en-IE" sz="8000" dirty="0"/>
          </a:p>
          <a:p>
            <a:pPr eaLnBrk="1" hangingPunct="1">
              <a:buFont typeface="Arial" charset="0"/>
              <a:buNone/>
              <a:defRPr/>
            </a:pPr>
            <a:endParaRPr lang="en-IE" sz="8000" dirty="0">
              <a:solidFill>
                <a:schemeClr val="tx2">
                  <a:lumMod val="90000"/>
                </a:schemeClr>
              </a:solidFill>
            </a:endParaRPr>
          </a:p>
          <a:p>
            <a:pPr eaLnBrk="1" hangingPunct="1">
              <a:buFont typeface="Arial" charset="0"/>
              <a:buNone/>
              <a:defRPr/>
            </a:pPr>
            <a:endParaRPr lang="en-IE" sz="1350" dirty="0">
              <a:solidFill>
                <a:schemeClr val="tx2">
                  <a:lumMod val="90000"/>
                </a:schemeClr>
              </a:solidFill>
            </a:endParaRPr>
          </a:p>
          <a:p>
            <a:pPr eaLnBrk="1" hangingPunct="1">
              <a:buFont typeface="Arial" charset="0"/>
              <a:buNone/>
              <a:defRPr/>
            </a:pPr>
            <a:endParaRPr lang="en-IE" sz="1050" dirty="0"/>
          </a:p>
          <a:p>
            <a:endParaRPr lang="en-IE" sz="975" dirty="0"/>
          </a:p>
        </p:txBody>
      </p:sp>
      <p:sp>
        <p:nvSpPr>
          <p:cNvPr id="4" name="Content Placeholder 3">
            <a:extLst>
              <a:ext uri="{FF2B5EF4-FFF2-40B4-BE49-F238E27FC236}">
                <a16:creationId xmlns:a16="http://schemas.microsoft.com/office/drawing/2014/main" id="{72829D82-3EDA-4AAB-9A11-656D2CA51FD0}"/>
              </a:ext>
            </a:extLst>
          </p:cNvPr>
          <p:cNvSpPr>
            <a:spLocks noGrp="1"/>
          </p:cNvSpPr>
          <p:nvPr>
            <p:ph sz="half" idx="2"/>
          </p:nvPr>
        </p:nvSpPr>
        <p:spPr>
          <a:xfrm>
            <a:off x="685800" y="3465443"/>
            <a:ext cx="8001000" cy="3113425"/>
          </a:xfrm>
        </p:spPr>
        <p:txBody>
          <a:bodyPr>
            <a:normAutofit fontScale="25000" lnSpcReduction="20000"/>
          </a:bodyPr>
          <a:lstStyle/>
          <a:p>
            <a:pPr marL="172800" indent="-342900" algn="ctr">
              <a:lnSpc>
                <a:spcPct val="150000"/>
              </a:lnSpc>
              <a:spcAft>
                <a:spcPts val="900"/>
              </a:spcAft>
              <a:buNone/>
              <a:defRPr/>
            </a:pPr>
            <a:r>
              <a:rPr lang="es" sz="8000" b="1" dirty="0">
                <a:solidFill>
                  <a:schemeClr val="tx1">
                    <a:lumMod val="95000"/>
                  </a:schemeClr>
                </a:solidFill>
                <a:cs typeface="Times New Roman"/>
              </a:rPr>
              <a:t>Ahora imagina que regresaste y donaste </a:t>
            </a:r>
            <a:r>
              <a:rPr lang="es-ES" sz="8000" b="1" dirty="0">
                <a:solidFill>
                  <a:schemeClr val="tx1">
                    <a:lumMod val="95000"/>
                  </a:schemeClr>
                </a:solidFill>
                <a:cs typeface="Times New Roman"/>
              </a:rPr>
              <a:t>algo de dinero</a:t>
            </a:r>
            <a:endParaRPr lang="en-IE" sz="8000" b="1" dirty="0">
              <a:solidFill>
                <a:schemeClr val="tx1">
                  <a:lumMod val="95000"/>
                </a:schemeClr>
              </a:solidFill>
              <a:cs typeface="Times New Roman"/>
            </a:endParaRPr>
          </a:p>
          <a:p>
            <a:pPr marL="0" indent="0" algn="just">
              <a:buNone/>
              <a:defRPr/>
            </a:pPr>
            <a:r>
              <a:rPr lang="es" sz="8000" dirty="0">
                <a:solidFill>
                  <a:srgbClr val="C00000"/>
                </a:solidFill>
              </a:rPr>
              <a:t>3) ¿Puedes recordar si te sentiste (o te sentirías) mejor después de hacer esto?</a:t>
            </a:r>
          </a:p>
          <a:p>
            <a:pPr marL="0" indent="0" algn="just">
              <a:buNone/>
              <a:defRPr/>
            </a:pPr>
            <a:endParaRPr lang="en-IE" sz="8000" dirty="0">
              <a:solidFill>
                <a:srgbClr val="C00000"/>
              </a:solidFill>
            </a:endParaRPr>
          </a:p>
          <a:p>
            <a:pPr marL="0" indent="0" algn="just">
              <a:buNone/>
              <a:defRPr/>
            </a:pPr>
            <a:r>
              <a:rPr lang="es" sz="8000" dirty="0">
                <a:solidFill>
                  <a:srgbClr val="C00000"/>
                </a:solidFill>
              </a:rPr>
              <a:t>4) ¿Qué pasaría si no hubieras dado dinero? ¿Qué más podría hacerte sentir mejor contigo mismo?</a:t>
            </a:r>
          </a:p>
          <a:p>
            <a:pPr marL="0" indent="0" algn="just">
              <a:buNone/>
              <a:defRPr/>
            </a:pPr>
            <a:endParaRPr lang="en-IE" sz="8000" dirty="0">
              <a:solidFill>
                <a:srgbClr val="C00000"/>
              </a:solidFill>
            </a:endParaRPr>
          </a:p>
          <a:p>
            <a:pPr marL="0" indent="0" algn="just">
              <a:buNone/>
              <a:defRPr/>
            </a:pPr>
            <a:r>
              <a:rPr lang="es" sz="8000" dirty="0">
                <a:solidFill>
                  <a:srgbClr val="C00000"/>
                </a:solidFill>
              </a:rPr>
              <a:t>5) ¿Te sientes diferente cuando actúas de acuerdo a tus creencias o vas en contra de ellas?</a:t>
            </a:r>
          </a:p>
        </p:txBody>
      </p:sp>
      <p:sp>
        <p:nvSpPr>
          <p:cNvPr id="6" name="CuadroTexto 5">
            <a:extLst>
              <a:ext uri="{FF2B5EF4-FFF2-40B4-BE49-F238E27FC236}">
                <a16:creationId xmlns:a16="http://schemas.microsoft.com/office/drawing/2014/main" id="{44E7E661-05D7-28E6-44B2-4DFA1E6CFDB4}"/>
              </a:ext>
            </a:extLst>
          </p:cNvPr>
          <p:cNvSpPr txBox="1"/>
          <p:nvPr/>
        </p:nvSpPr>
        <p:spPr>
          <a:xfrm>
            <a:off x="609600" y="722056"/>
            <a:ext cx="8305800" cy="1703543"/>
          </a:xfrm>
          <a:prstGeom prst="rect">
            <a:avLst/>
          </a:prstGeom>
          <a:noFill/>
        </p:spPr>
        <p:txBody>
          <a:bodyPr wrap="square">
            <a:spAutoFit/>
          </a:bodyPr>
          <a:lstStyle/>
          <a:p>
            <a:pPr algn="just">
              <a:lnSpc>
                <a:spcPct val="150000"/>
              </a:lnSpc>
              <a:spcAft>
                <a:spcPts val="900"/>
              </a:spcAft>
              <a:buNone/>
              <a:defRPr/>
            </a:pPr>
            <a:r>
              <a:rPr lang="es" sz="1800" b="1" dirty="0">
                <a:solidFill>
                  <a:schemeClr val="tx1">
                    <a:lumMod val="95000"/>
                  </a:schemeClr>
                </a:solidFill>
                <a:ea typeface="Times New Roman"/>
                <a:cs typeface="Times New Roman"/>
              </a:rPr>
              <a:t>Escenario: Como nos pasa a la mayoría, nos cruzamos con gente pidiendo ayuda en la calle. Probablemente recuerdes alguna vez que has pasado de largo sin dar dinero. </a:t>
            </a:r>
            <a:r>
              <a:rPr lang="es" sz="1800" b="1" dirty="0">
                <a:solidFill>
                  <a:prstClr val="black">
                    <a:lumMod val="95000"/>
                  </a:prstClr>
                </a:solidFill>
                <a:ea typeface="Times New Roman"/>
                <a:cs typeface="Times New Roman"/>
              </a:rPr>
              <a:t>Quizás has sentido incomodidad y te has dado cuenta de que quizás deberías haber ayudado y te has sentido mal por no haberlo hecho.</a:t>
            </a:r>
            <a:endParaRPr lang="en-IE" sz="1800" b="1" dirty="0">
              <a:solidFill>
                <a:prstClr val="black">
                  <a:lumMod val="95000"/>
                </a:prstClr>
              </a:solidFill>
            </a:endParaRPr>
          </a:p>
        </p:txBody>
      </p:sp>
    </p:spTree>
    <p:extLst>
      <p:ext uri="{BB962C8B-B14F-4D97-AF65-F5344CB8AC3E}">
        <p14:creationId xmlns:p14="http://schemas.microsoft.com/office/powerpoint/2010/main" val="10189127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3E7D4-4232-3155-53B8-30A953F52C41}"/>
            </a:ext>
          </a:extLst>
        </p:cNvPr>
        <p:cNvGrpSpPr/>
        <p:nvPr/>
      </p:nvGrpSpPr>
      <p:grpSpPr>
        <a:xfrm>
          <a:off x="0" y="0"/>
          <a:ext cx="0" cy="0"/>
          <a:chOff x="0" y="0"/>
          <a:chExt cx="0" cy="0"/>
        </a:xfrm>
      </p:grpSpPr>
      <p:sp>
        <p:nvSpPr>
          <p:cNvPr id="6146" name="AutoShape 2">
            <a:extLst>
              <a:ext uri="{FF2B5EF4-FFF2-40B4-BE49-F238E27FC236}">
                <a16:creationId xmlns:a16="http://schemas.microsoft.com/office/drawing/2014/main" id="{55DA18DD-34A3-6BFF-43CB-F00EEC848686}"/>
              </a:ext>
            </a:extLst>
          </p:cNvPr>
          <p:cNvSpPr>
            <a:spLocks noGrp="1" noChangeArrowheads="1"/>
          </p:cNvSpPr>
          <p:nvPr>
            <p:ph type="title"/>
          </p:nvPr>
        </p:nvSpPr>
        <p:spPr>
          <a:xfrm>
            <a:off x="971550" y="152400"/>
            <a:ext cx="7200900" cy="762000"/>
          </a:xfrm>
        </p:spPr>
        <p:txBody>
          <a:bodyPr>
            <a:noAutofit/>
          </a:bodyPr>
          <a:lstStyle/>
          <a:p>
            <a:pPr algn="ctr"/>
            <a:r>
              <a:rPr lang="es-ES_tradnl" sz="3200" noProof="1"/>
              <a:t>Disonancia Cognitiva (Vídeo)</a:t>
            </a:r>
          </a:p>
        </p:txBody>
      </p:sp>
      <p:sp>
        <p:nvSpPr>
          <p:cNvPr id="7" name="CuadroTexto 6">
            <a:extLst>
              <a:ext uri="{FF2B5EF4-FFF2-40B4-BE49-F238E27FC236}">
                <a16:creationId xmlns:a16="http://schemas.microsoft.com/office/drawing/2014/main" id="{9D853234-BF54-39AD-37AA-EAA690BB59C5}"/>
              </a:ext>
            </a:extLst>
          </p:cNvPr>
          <p:cNvSpPr txBox="1"/>
          <p:nvPr/>
        </p:nvSpPr>
        <p:spPr>
          <a:xfrm>
            <a:off x="685800" y="3085068"/>
            <a:ext cx="8305800" cy="369332"/>
          </a:xfrm>
          <a:prstGeom prst="rect">
            <a:avLst/>
          </a:prstGeom>
          <a:noFill/>
        </p:spPr>
        <p:txBody>
          <a:bodyPr wrap="square">
            <a:spAutoFit/>
          </a:bodyPr>
          <a:lstStyle/>
          <a:p>
            <a:r>
              <a:rPr lang="en-GB" dirty="0"/>
              <a:t>https://</a:t>
            </a:r>
            <a:r>
              <a:rPr lang="en-GB" dirty="0" err="1"/>
              <a:t>sproutsschools.com</a:t>
            </a:r>
            <a:r>
              <a:rPr lang="en-GB" dirty="0"/>
              <a:t>/cognitive-dissonance-our-battle-with-conflicting-beliefs/</a:t>
            </a:r>
          </a:p>
        </p:txBody>
      </p:sp>
    </p:spTree>
    <p:extLst>
      <p:ext uri="{BB962C8B-B14F-4D97-AF65-F5344CB8AC3E}">
        <p14:creationId xmlns:p14="http://schemas.microsoft.com/office/powerpoint/2010/main" val="208066479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30CC4-1396-345B-0BD8-08D798D751F5}"/>
            </a:ext>
          </a:extLst>
        </p:cNvPr>
        <p:cNvGrpSpPr/>
        <p:nvPr/>
      </p:nvGrpSpPr>
      <p:grpSpPr>
        <a:xfrm>
          <a:off x="0" y="0"/>
          <a:ext cx="0" cy="0"/>
          <a:chOff x="0" y="0"/>
          <a:chExt cx="0" cy="0"/>
        </a:xfrm>
      </p:grpSpPr>
      <p:sp>
        <p:nvSpPr>
          <p:cNvPr id="6146" name="AutoShape 2">
            <a:extLst>
              <a:ext uri="{FF2B5EF4-FFF2-40B4-BE49-F238E27FC236}">
                <a16:creationId xmlns:a16="http://schemas.microsoft.com/office/drawing/2014/main" id="{0C2F3583-E375-664B-9486-AE6CF1A38970}"/>
              </a:ext>
            </a:extLst>
          </p:cNvPr>
          <p:cNvSpPr>
            <a:spLocks noGrp="1" noChangeArrowheads="1"/>
          </p:cNvSpPr>
          <p:nvPr>
            <p:ph type="title"/>
          </p:nvPr>
        </p:nvSpPr>
        <p:spPr>
          <a:xfrm>
            <a:off x="971550" y="152400"/>
            <a:ext cx="7200900" cy="762000"/>
          </a:xfrm>
        </p:spPr>
        <p:txBody>
          <a:bodyPr>
            <a:noAutofit/>
          </a:bodyPr>
          <a:lstStyle/>
          <a:p>
            <a:pPr algn="ctr"/>
            <a:r>
              <a:rPr lang="es-ES_tradnl" sz="3200" noProof="1"/>
              <a:t>1. Disonancia Cognitiva</a:t>
            </a:r>
          </a:p>
        </p:txBody>
      </p:sp>
      <p:sp>
        <p:nvSpPr>
          <p:cNvPr id="2" name="Rectangle 3">
            <a:extLst>
              <a:ext uri="{FF2B5EF4-FFF2-40B4-BE49-F238E27FC236}">
                <a16:creationId xmlns:a16="http://schemas.microsoft.com/office/drawing/2014/main" id="{C2407E05-9F1D-F21A-1DC1-5672C7CD7C73}"/>
              </a:ext>
            </a:extLst>
          </p:cNvPr>
          <p:cNvSpPr txBox="1">
            <a:spLocks noChangeArrowheads="1"/>
          </p:cNvSpPr>
          <p:nvPr/>
        </p:nvSpPr>
        <p:spPr>
          <a:xfrm>
            <a:off x="685800" y="914400"/>
            <a:ext cx="8305802" cy="5410200"/>
          </a:xfrm>
          <a:prstGeom prst="rect">
            <a:avLst/>
          </a:prstGeom>
        </p:spPr>
        <p:txBody>
          <a:bodyPr vert="horz" lIns="91440" tIns="45720" rIns="91440" bIns="45720" rtlCol="0">
            <a:noAutofit/>
          </a:bodyPr>
          <a:lstStyle>
            <a:lvl1pPr marL="384048" indent="-384048" algn="l" defTabSz="6858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a:buNone/>
            </a:pPr>
            <a:br>
              <a:rPr lang="es-ES" dirty="0"/>
            </a:br>
            <a:r>
              <a:rPr lang="es-ES" dirty="0"/>
              <a:t>A veces </a:t>
            </a:r>
            <a:r>
              <a:rPr lang="es-ES" i="1" dirty="0"/>
              <a:t>actuamos en contra de lo que pensamos</a:t>
            </a:r>
            <a:r>
              <a:rPr lang="es-ES" dirty="0"/>
              <a:t>. Eso genera </a:t>
            </a:r>
            <a:r>
              <a:rPr lang="es-ES" b="1" dirty="0"/>
              <a:t>malestar psicológico</a:t>
            </a:r>
            <a:r>
              <a:rPr lang="es-ES" dirty="0"/>
              <a:t>.</a:t>
            </a:r>
          </a:p>
          <a:p>
            <a:pPr>
              <a:buNone/>
            </a:pPr>
            <a:endParaRPr lang="es-ES" dirty="0"/>
          </a:p>
          <a:p>
            <a:pPr>
              <a:buFont typeface="Arial" panose="020B0604020202020204" pitchFamily="34" charset="0"/>
              <a:buChar char="•"/>
            </a:pPr>
            <a:r>
              <a:rPr lang="es-ES" b="1" dirty="0"/>
              <a:t>Teorías previas: </a:t>
            </a:r>
            <a:r>
              <a:rPr lang="es-ES" dirty="0"/>
              <a:t>Búsqueda de </a:t>
            </a:r>
            <a:r>
              <a:rPr lang="es-ES" b="1" dirty="0"/>
              <a:t>coherencia lógica</a:t>
            </a:r>
            <a:r>
              <a:rPr lang="es-ES" dirty="0"/>
              <a:t> entre actitudes.</a:t>
            </a:r>
            <a:br>
              <a:rPr lang="es-ES" dirty="0"/>
            </a:br>
            <a:r>
              <a:rPr lang="es-ES" dirty="0"/>
              <a:t>Si no hay incoherencia → cambiamos actitudes.</a:t>
            </a:r>
          </a:p>
          <a:p>
            <a:pPr>
              <a:buFont typeface="Arial" panose="020B0604020202020204" pitchFamily="34" charset="0"/>
              <a:buChar char="•"/>
            </a:pPr>
            <a:endParaRPr lang="es-ES" dirty="0"/>
          </a:p>
          <a:p>
            <a:pPr>
              <a:buFont typeface="Arial" panose="020B0604020202020204" pitchFamily="34" charset="0"/>
              <a:buChar char="•"/>
            </a:pPr>
            <a:r>
              <a:rPr lang="es-ES" b="1" dirty="0"/>
              <a:t>Festinger (1957) cambia el enfoque:</a:t>
            </a:r>
            <a:endParaRPr lang="es-ES" dirty="0"/>
          </a:p>
          <a:p>
            <a:pPr lvl="1">
              <a:buFont typeface="Arial" panose="020B0604020202020204" pitchFamily="34" charset="0"/>
              <a:buChar char="•"/>
            </a:pPr>
            <a:r>
              <a:rPr lang="es-ES" i="0" dirty="0"/>
              <a:t>No buscamos lógica → </a:t>
            </a:r>
            <a:r>
              <a:rPr lang="es-ES" b="1" i="0" dirty="0"/>
              <a:t>buscamos reducir el malestar</a:t>
            </a:r>
            <a:r>
              <a:rPr lang="es-ES" i="0" dirty="0"/>
              <a:t>.</a:t>
            </a:r>
          </a:p>
          <a:p>
            <a:pPr lvl="1">
              <a:buFont typeface="Arial" panose="020B0604020202020204" pitchFamily="34" charset="0"/>
              <a:buChar char="•"/>
            </a:pPr>
            <a:r>
              <a:rPr lang="es-ES" i="0" dirty="0"/>
              <a:t>La incoherencia se llama </a:t>
            </a:r>
            <a:r>
              <a:rPr lang="es-ES" b="1" i="0" dirty="0"/>
              <a:t>disonancia cognitiva</a:t>
            </a:r>
            <a:r>
              <a:rPr lang="es-ES" i="0" dirty="0"/>
              <a:t> (≠ inconsistencia lógica).</a:t>
            </a:r>
          </a:p>
          <a:p>
            <a:pPr lvl="1">
              <a:buFont typeface="Arial" panose="020B0604020202020204" pitchFamily="34" charset="0"/>
              <a:buChar char="•"/>
            </a:pPr>
            <a:r>
              <a:rPr lang="es-ES" i="0" dirty="0"/>
              <a:t>Es una </a:t>
            </a:r>
            <a:r>
              <a:rPr lang="es-ES" b="1" i="0" dirty="0"/>
              <a:t>motivación fisiológica</a:t>
            </a:r>
            <a:r>
              <a:rPr lang="es-ES" i="0" dirty="0"/>
              <a:t>, como el hambre o la sed.</a:t>
            </a:r>
          </a:p>
        </p:txBody>
      </p:sp>
    </p:spTree>
    <p:extLst>
      <p:ext uri="{BB962C8B-B14F-4D97-AF65-F5344CB8AC3E}">
        <p14:creationId xmlns:p14="http://schemas.microsoft.com/office/powerpoint/2010/main" val="4248439159"/>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84EB2-149C-43B6-A3FC-B46013E1D3A8}"/>
              </a:ext>
            </a:extLst>
          </p:cNvPr>
          <p:cNvSpPr>
            <a:spLocks noGrp="1"/>
          </p:cNvSpPr>
          <p:nvPr>
            <p:ph type="title"/>
          </p:nvPr>
        </p:nvSpPr>
        <p:spPr>
          <a:xfrm>
            <a:off x="424763" y="522443"/>
            <a:ext cx="8744637" cy="751856"/>
          </a:xfrm>
        </p:spPr>
        <p:txBody>
          <a:bodyPr>
            <a:normAutofit/>
          </a:bodyPr>
          <a:lstStyle/>
          <a:p>
            <a:pPr algn="ctr"/>
            <a:r>
              <a:rPr lang="es" sz="2400" dirty="0"/>
              <a:t>Terminología de la disonancia cognitiva en lenguaje habitual</a:t>
            </a:r>
          </a:p>
        </p:txBody>
      </p:sp>
      <p:graphicFrame>
        <p:nvGraphicFramePr>
          <p:cNvPr id="8" name="Table 7">
            <a:extLst>
              <a:ext uri="{FF2B5EF4-FFF2-40B4-BE49-F238E27FC236}">
                <a16:creationId xmlns:a16="http://schemas.microsoft.com/office/drawing/2014/main" id="{324BD681-D592-4B6A-9B12-1C40CBECDD1F}"/>
              </a:ext>
            </a:extLst>
          </p:cNvPr>
          <p:cNvGraphicFramePr>
            <a:graphicFrameLocks noGrp="1" noChangeAspect="1"/>
          </p:cNvGraphicFramePr>
          <p:nvPr>
            <p:extLst>
              <p:ext uri="{D42A27DB-BD31-4B8C-83A1-F6EECF244321}">
                <p14:modId xmlns:p14="http://schemas.microsoft.com/office/powerpoint/2010/main" val="4201437283"/>
              </p:ext>
            </p:extLst>
          </p:nvPr>
        </p:nvGraphicFramePr>
        <p:xfrm>
          <a:off x="704300" y="1392922"/>
          <a:ext cx="8185562" cy="4909505"/>
        </p:xfrm>
        <a:graphic>
          <a:graphicData uri="http://schemas.openxmlformats.org/drawingml/2006/table">
            <a:tbl>
              <a:tblPr firstRow="1" bandRow="1">
                <a:tableStyleId>{5C22544A-7EE6-4342-B048-85BDC9FD1C3A}</a:tableStyleId>
              </a:tblPr>
              <a:tblGrid>
                <a:gridCol w="3863299">
                  <a:extLst>
                    <a:ext uri="{9D8B030D-6E8A-4147-A177-3AD203B41FA5}">
                      <a16:colId xmlns:a16="http://schemas.microsoft.com/office/drawing/2014/main" val="2189746203"/>
                    </a:ext>
                  </a:extLst>
                </a:gridCol>
                <a:gridCol w="4322263">
                  <a:extLst>
                    <a:ext uri="{9D8B030D-6E8A-4147-A177-3AD203B41FA5}">
                      <a16:colId xmlns:a16="http://schemas.microsoft.com/office/drawing/2014/main" val="3725961703"/>
                    </a:ext>
                  </a:extLst>
                </a:gridCol>
              </a:tblGrid>
              <a:tr h="7261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 sz="2100" dirty="0"/>
                        <a:t>Terminología de la disonancia cognitiva (Festinger, 1957)</a:t>
                      </a:r>
                      <a:endParaRPr lang="en-US" sz="2100" dirty="0"/>
                    </a:p>
                  </a:txBody>
                  <a:tcPr marL="68580" marR="68580" marT="34290" marB="34290">
                    <a:solidFill>
                      <a:srgbClr val="C00000"/>
                    </a:solidFill>
                  </a:tcPr>
                </a:tc>
                <a:tc>
                  <a:txBody>
                    <a:bodyPr/>
                    <a:lstStyle/>
                    <a:p>
                      <a:r>
                        <a:rPr lang="es" sz="2100" dirty="0"/>
                        <a:t>Lenguaje habitual</a:t>
                      </a:r>
                      <a:endParaRPr lang="en-US" sz="2100" dirty="0"/>
                    </a:p>
                  </a:txBody>
                  <a:tcPr marL="68580" marR="68580" marT="34290" marB="34290">
                    <a:solidFill>
                      <a:srgbClr val="C00000"/>
                    </a:solidFill>
                  </a:tcPr>
                </a:tc>
                <a:extLst>
                  <a:ext uri="{0D108BD9-81ED-4DB2-BD59-A6C34878D82A}">
                    <a16:rowId xmlns:a16="http://schemas.microsoft.com/office/drawing/2014/main" val="2940235252"/>
                  </a:ext>
                </a:extLst>
              </a:tr>
              <a:tr h="708660">
                <a:tc>
                  <a:txBody>
                    <a:bodyPr/>
                    <a:lstStyle/>
                    <a:p>
                      <a:r>
                        <a:rPr lang="es" sz="2100" dirty="0"/>
                        <a:t>Discrepancia Cognitiva</a:t>
                      </a:r>
                    </a:p>
                    <a:p>
                      <a:endParaRPr lang="en-US" sz="2100" dirty="0"/>
                    </a:p>
                  </a:txBody>
                  <a:tcPr marL="68580" marR="68580" marT="34290" marB="3429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s" sz="2100" i="0" dirty="0">
                          <a:solidFill>
                            <a:srgbClr val="C00000"/>
                          </a:solidFill>
                        </a:rPr>
                        <a:t>Inconsistencia entre cogniciones o entre cognición y comportamiento</a:t>
                      </a:r>
                      <a:endParaRPr lang="en-US" sz="2100" i="0" dirty="0">
                        <a:solidFill>
                          <a:srgbClr val="C00000"/>
                        </a:solidFill>
                      </a:endParaRPr>
                    </a:p>
                  </a:txBody>
                  <a:tcPr marL="68580" marR="68580" marT="34290" marB="3429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317311050"/>
                  </a:ext>
                </a:extLst>
              </a:tr>
              <a:tr h="1028700">
                <a:tc>
                  <a:txBody>
                    <a:bodyPr/>
                    <a:lstStyle/>
                    <a:p>
                      <a:r>
                        <a:rPr lang="es" sz="2100" dirty="0"/>
                        <a:t>Incomodidad por Disonancia</a:t>
                      </a:r>
                      <a:endParaRPr lang="en-US" sz="2100" dirty="0"/>
                    </a:p>
                  </a:txBody>
                  <a:tcPr marL="68580" marR="68580" marT="34290" marB="3429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s" sz="2100" i="0" dirty="0">
                          <a:solidFill>
                            <a:srgbClr val="C00000"/>
                          </a:solidFill>
                        </a:rPr>
                        <a:t>Molestia; malestar; enfado consigo mismo; arrepentimiento; vergüenza; pena</a:t>
                      </a:r>
                      <a:endParaRPr lang="en-US" sz="2100" i="0" dirty="0">
                        <a:solidFill>
                          <a:srgbClr val="C00000"/>
                        </a:solidFill>
                      </a:endParaRPr>
                    </a:p>
                  </a:txBody>
                  <a:tcPr marL="68580" marR="68580" marT="34290" marB="3429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733704472"/>
                  </a:ext>
                </a:extLst>
              </a:tr>
              <a:tr h="708660">
                <a:tc>
                  <a:txBody>
                    <a:bodyPr/>
                    <a:lstStyle/>
                    <a:p>
                      <a:r>
                        <a:rPr lang="es" sz="2100" dirty="0"/>
                        <a:t>Inducción de disonancia</a:t>
                      </a:r>
                      <a:endParaRPr lang="en-US" sz="2100" dirty="0"/>
                    </a:p>
                  </a:txBody>
                  <a:tcPr marL="68580" marR="68580" marT="34290" marB="3429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s" sz="2100" i="0" dirty="0">
                          <a:solidFill>
                            <a:srgbClr val="C00000"/>
                          </a:solidFill>
                        </a:rPr>
                        <a:t>Lo que provoca la incomodidad</a:t>
                      </a:r>
                      <a:endParaRPr lang="en-US" sz="2100" i="0" dirty="0">
                        <a:solidFill>
                          <a:srgbClr val="C00000"/>
                        </a:solidFill>
                      </a:endParaRPr>
                    </a:p>
                  </a:txBody>
                  <a:tcPr marL="68580" marR="68580" marT="34290" marB="3429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917969627"/>
                  </a:ext>
                </a:extLst>
              </a:tr>
              <a:tr h="708660">
                <a:tc>
                  <a:txBody>
                    <a:bodyPr/>
                    <a:lstStyle/>
                    <a:p>
                      <a:r>
                        <a:rPr lang="es" sz="2100" dirty="0"/>
                        <a:t>Reducción de la disonancia</a:t>
                      </a:r>
                      <a:endParaRPr lang="en-US" sz="2100" dirty="0"/>
                    </a:p>
                  </a:txBody>
                  <a:tcPr marL="68580" marR="68580" marT="34290" marB="3429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s-ES" sz="2100" i="0" dirty="0">
                          <a:solidFill>
                            <a:srgbClr val="C00000"/>
                          </a:solidFill>
                        </a:rPr>
                        <a:t>S</a:t>
                      </a:r>
                      <a:r>
                        <a:rPr lang="es" sz="2100" i="0" dirty="0">
                          <a:solidFill>
                            <a:srgbClr val="C00000"/>
                          </a:solidFill>
                        </a:rPr>
                        <a:t>iento que está justificado; estoy haciendo lo correcto; me siento aliviada/o</a:t>
                      </a:r>
                      <a:endParaRPr lang="en-US" sz="2100" i="0" dirty="0">
                        <a:solidFill>
                          <a:srgbClr val="C00000"/>
                        </a:solidFill>
                      </a:endParaRPr>
                    </a:p>
                  </a:txBody>
                  <a:tcPr marL="68580" marR="68580" marT="34290" marB="3429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3429061263"/>
                  </a:ext>
                </a:extLst>
              </a:tr>
              <a:tr h="708660">
                <a:tc>
                  <a:txBody>
                    <a:bodyPr/>
                    <a:lstStyle/>
                    <a:p>
                      <a:r>
                        <a:rPr lang="es" sz="2100" dirty="0"/>
                        <a:t>Consonancia</a:t>
                      </a:r>
                    </a:p>
                    <a:p>
                      <a:endParaRPr lang="en-US" sz="2100" dirty="0"/>
                    </a:p>
                  </a:txBody>
                  <a:tcPr marL="68580" marR="68580" marT="34290" marB="3429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r>
                        <a:rPr lang="es-ES" sz="2100" i="0" dirty="0">
                          <a:solidFill>
                            <a:srgbClr val="C00000"/>
                          </a:solidFill>
                        </a:rPr>
                        <a:t>E</a:t>
                      </a:r>
                      <a:r>
                        <a:rPr lang="es" sz="2100" i="0" dirty="0">
                          <a:solidFill>
                            <a:srgbClr val="C00000"/>
                          </a:solidFill>
                        </a:rPr>
                        <a:t>stoy en paz</a:t>
                      </a:r>
                      <a:endParaRPr lang="en-US" sz="2100" i="0" dirty="0">
                        <a:solidFill>
                          <a:srgbClr val="C00000"/>
                        </a:solidFill>
                      </a:endParaRPr>
                    </a:p>
                  </a:txBody>
                  <a:tcPr marL="68580" marR="68580" marT="34290" marB="3429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94223569"/>
                  </a:ext>
                </a:extLst>
              </a:tr>
            </a:tbl>
          </a:graphicData>
        </a:graphic>
      </p:graphicFrame>
    </p:spTree>
    <p:extLst>
      <p:ext uri="{BB962C8B-B14F-4D97-AF65-F5344CB8AC3E}">
        <p14:creationId xmlns:p14="http://schemas.microsoft.com/office/powerpoint/2010/main" val="3796980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84EB2-149C-43B6-A3FC-B46013E1D3A8}"/>
              </a:ext>
            </a:extLst>
          </p:cNvPr>
          <p:cNvSpPr>
            <a:spLocks noGrp="1"/>
          </p:cNvSpPr>
          <p:nvPr>
            <p:ph type="title"/>
          </p:nvPr>
        </p:nvSpPr>
        <p:spPr>
          <a:xfrm>
            <a:off x="685800" y="152400"/>
            <a:ext cx="8085481" cy="994172"/>
          </a:xfrm>
        </p:spPr>
        <p:txBody>
          <a:bodyPr>
            <a:normAutofit/>
          </a:bodyPr>
          <a:lstStyle/>
          <a:p>
            <a:pPr algn="ctr"/>
            <a:r>
              <a:rPr lang="es" sz="3200" dirty="0"/>
              <a:t>Conexión entre el ejemplo y la teoría</a:t>
            </a:r>
          </a:p>
        </p:txBody>
      </p:sp>
      <p:sp>
        <p:nvSpPr>
          <p:cNvPr id="3" name="Content Placeholder 2">
            <a:extLst>
              <a:ext uri="{FF2B5EF4-FFF2-40B4-BE49-F238E27FC236}">
                <a16:creationId xmlns:a16="http://schemas.microsoft.com/office/drawing/2014/main" id="{64E6CE59-57B8-45A8-9159-69C4A7EE7F4F}"/>
              </a:ext>
            </a:extLst>
          </p:cNvPr>
          <p:cNvSpPr>
            <a:spLocks noGrp="1"/>
          </p:cNvSpPr>
          <p:nvPr>
            <p:ph sz="half" idx="1"/>
          </p:nvPr>
        </p:nvSpPr>
        <p:spPr>
          <a:xfrm>
            <a:off x="609600" y="762000"/>
            <a:ext cx="2938670" cy="5308437"/>
          </a:xfrm>
        </p:spPr>
        <p:txBody>
          <a:bodyPr>
            <a:noAutofit/>
          </a:bodyPr>
          <a:lstStyle/>
          <a:p>
            <a:pPr marL="0" indent="0">
              <a:buNone/>
            </a:pPr>
            <a:r>
              <a:rPr lang="es" b="1" dirty="0">
                <a:solidFill>
                  <a:srgbClr val="C00000"/>
                </a:solidFill>
              </a:rPr>
              <a:t>Inducción de disonancia</a:t>
            </a:r>
          </a:p>
          <a:p>
            <a:pPr>
              <a:buFontTx/>
              <a:buChar char="-"/>
            </a:pPr>
            <a:r>
              <a:rPr lang="es" dirty="0"/>
              <a:t>No ayudar a alguien que lo necesita es incompatible con vernos a nosotros mismos como una persona buena y servicial.</a:t>
            </a:r>
          </a:p>
          <a:p>
            <a:pPr>
              <a:buFontTx/>
              <a:buChar char="-"/>
            </a:pPr>
            <a:r>
              <a:rPr lang="es" dirty="0"/>
              <a:t>Esto provoca incomodidad y en este caso probablemente una leve excitación.</a:t>
            </a:r>
          </a:p>
          <a:p>
            <a:pPr>
              <a:buFontTx/>
              <a:buChar char="-"/>
            </a:pPr>
            <a:r>
              <a:rPr lang="es" dirty="0"/>
              <a:t>El malestar sentido tiene propiedades impulsivas y motiva esfuerzos para reducirlo.</a:t>
            </a:r>
          </a:p>
        </p:txBody>
      </p:sp>
      <p:graphicFrame>
        <p:nvGraphicFramePr>
          <p:cNvPr id="8" name="Table 7">
            <a:extLst>
              <a:ext uri="{FF2B5EF4-FFF2-40B4-BE49-F238E27FC236}">
                <a16:creationId xmlns:a16="http://schemas.microsoft.com/office/drawing/2014/main" id="{324BD681-D592-4B6A-9B12-1C40CBECDD1F}"/>
              </a:ext>
            </a:extLst>
          </p:cNvPr>
          <p:cNvGraphicFramePr>
            <a:graphicFrameLocks noGrp="1"/>
          </p:cNvGraphicFramePr>
          <p:nvPr>
            <p:extLst>
              <p:ext uri="{D42A27DB-BD31-4B8C-83A1-F6EECF244321}">
                <p14:modId xmlns:p14="http://schemas.microsoft.com/office/powerpoint/2010/main" val="3727615366"/>
              </p:ext>
            </p:extLst>
          </p:nvPr>
        </p:nvGraphicFramePr>
        <p:xfrm>
          <a:off x="3548270" y="787563"/>
          <a:ext cx="5562600" cy="5994234"/>
        </p:xfrm>
        <a:graphic>
          <a:graphicData uri="http://schemas.openxmlformats.org/drawingml/2006/table">
            <a:tbl>
              <a:tblPr firstRow="1" bandRow="1">
                <a:tableStyleId>{5C22544A-7EE6-4342-B048-85BDC9FD1C3A}</a:tableStyleId>
              </a:tblPr>
              <a:tblGrid>
                <a:gridCol w="2090530">
                  <a:extLst>
                    <a:ext uri="{9D8B030D-6E8A-4147-A177-3AD203B41FA5}">
                      <a16:colId xmlns:a16="http://schemas.microsoft.com/office/drawing/2014/main" val="2189746203"/>
                    </a:ext>
                  </a:extLst>
                </a:gridCol>
                <a:gridCol w="3472070">
                  <a:extLst>
                    <a:ext uri="{9D8B030D-6E8A-4147-A177-3AD203B41FA5}">
                      <a16:colId xmlns:a16="http://schemas.microsoft.com/office/drawing/2014/main" val="3725961703"/>
                    </a:ext>
                  </a:extLst>
                </a:gridCol>
              </a:tblGrid>
              <a:tr h="6273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2000" dirty="0"/>
                        <a:t>¿Cómo podemos reducir la disonancia?</a:t>
                      </a:r>
                      <a:endParaRPr lang="en-US" sz="2000" dirty="0"/>
                    </a:p>
                  </a:txBody>
                  <a:tcPr marL="68580" marR="68580" marT="34290" marB="34290"/>
                </a:tc>
                <a:tc>
                  <a:txBody>
                    <a:bodyPr/>
                    <a:lstStyle/>
                    <a:p>
                      <a:r>
                        <a:rPr lang="es" sz="2000" dirty="0"/>
                        <a:t>Ejemplos</a:t>
                      </a:r>
                      <a:endParaRPr lang="en-US" sz="2000" dirty="0"/>
                    </a:p>
                  </a:txBody>
                  <a:tcPr marL="68580" marR="68580" marT="34290" marB="34290"/>
                </a:tc>
                <a:extLst>
                  <a:ext uri="{0D108BD9-81ED-4DB2-BD59-A6C34878D82A}">
                    <a16:rowId xmlns:a16="http://schemas.microsoft.com/office/drawing/2014/main" val="2940235252"/>
                  </a:ext>
                </a:extLst>
              </a:tr>
              <a:tr h="363438">
                <a:tc>
                  <a:txBody>
                    <a:bodyPr/>
                    <a:lstStyle/>
                    <a:p>
                      <a:r>
                        <a:rPr lang="es" sz="1500" b="1" dirty="0"/>
                        <a:t>acción</a:t>
                      </a:r>
                      <a:endParaRPr lang="en-US" sz="1500" b="1" dirty="0"/>
                    </a:p>
                  </a:txBody>
                  <a:tcPr marL="68580" marR="68580" marT="34290" marB="34290"/>
                </a:tc>
                <a:tc>
                  <a:txBody>
                    <a:bodyPr/>
                    <a:lstStyle/>
                    <a:p>
                      <a:r>
                        <a:rPr lang="es" sz="1500" i="0" dirty="0" err="1">
                          <a:solidFill>
                            <a:srgbClr val="C00000"/>
                          </a:solidFill>
                        </a:rPr>
                        <a:t>Comportamiento </a:t>
                      </a:r>
                      <a:r>
                        <a:rPr lang="es" sz="1500" i="0" dirty="0">
                          <a:solidFill>
                            <a:srgbClr val="C00000"/>
                          </a:solidFill>
                        </a:rPr>
                        <a:t>: Girar para dar dinero.</a:t>
                      </a:r>
                      <a:endParaRPr lang="en-US" sz="1500" i="0" dirty="0">
                        <a:solidFill>
                          <a:srgbClr val="C00000"/>
                        </a:solidFill>
                      </a:endParaRPr>
                    </a:p>
                  </a:txBody>
                  <a:tcPr marL="68580" marR="68580" marT="34290" marB="34290"/>
                </a:tc>
                <a:extLst>
                  <a:ext uri="{0D108BD9-81ED-4DB2-BD59-A6C34878D82A}">
                    <a16:rowId xmlns:a16="http://schemas.microsoft.com/office/drawing/2014/main" val="1317311050"/>
                  </a:ext>
                </a:extLst>
              </a:tr>
              <a:tr h="627304">
                <a:tc>
                  <a:txBody>
                    <a:bodyPr/>
                    <a:lstStyle/>
                    <a:p>
                      <a:r>
                        <a:rPr lang="es" sz="1500" b="1" dirty="0"/>
                        <a:t>cambiar actitud/creencia</a:t>
                      </a:r>
                      <a:endParaRPr lang="en-US" sz="1500" b="1" dirty="0"/>
                    </a:p>
                  </a:txBody>
                  <a:tcPr marL="68580" marR="68580" marT="34290" marB="34290"/>
                </a:tc>
                <a:tc>
                  <a:txBody>
                    <a:bodyPr/>
                    <a:lstStyle/>
                    <a:p>
                      <a:r>
                        <a:rPr lang="es" sz="1500" i="0" dirty="0">
                          <a:solidFill>
                            <a:srgbClr val="C00000"/>
                          </a:solidFill>
                        </a:rPr>
                        <a:t>Pensamiento: “No tiene sentido ayudar a la gente que mendiga”.</a:t>
                      </a:r>
                      <a:endParaRPr lang="en-US" sz="1500" i="0" dirty="0">
                        <a:solidFill>
                          <a:srgbClr val="C00000"/>
                        </a:solidFill>
                      </a:endParaRPr>
                    </a:p>
                  </a:txBody>
                  <a:tcPr marL="68580" marR="68580" marT="34290" marB="34290"/>
                </a:tc>
                <a:extLst>
                  <a:ext uri="{0D108BD9-81ED-4DB2-BD59-A6C34878D82A}">
                    <a16:rowId xmlns:a16="http://schemas.microsoft.com/office/drawing/2014/main" val="733704472"/>
                  </a:ext>
                </a:extLst>
              </a:tr>
              <a:tr h="627304">
                <a:tc>
                  <a:txBody>
                    <a:bodyPr/>
                    <a:lstStyle/>
                    <a:p>
                      <a:r>
                        <a:rPr lang="es" sz="1500" b="1" dirty="0"/>
                        <a:t>justificación</a:t>
                      </a:r>
                      <a:endParaRPr lang="en-US" sz="1500" b="1" dirty="0"/>
                    </a:p>
                  </a:txBody>
                  <a:tcPr marL="68580" marR="68580" marT="34290" marB="34290"/>
                </a:tc>
                <a:tc>
                  <a:txBody>
                    <a:bodyPr/>
                    <a:lstStyle/>
                    <a:p>
                      <a:r>
                        <a:rPr lang="es" sz="1500" i="0" dirty="0">
                          <a:solidFill>
                            <a:srgbClr val="C00000"/>
                          </a:solidFill>
                        </a:rPr>
                        <a:t>Pensamiento: "Tengo prisa" o "No es seguro sacar la cartera aquí".</a:t>
                      </a:r>
                      <a:endParaRPr lang="en-US" sz="1500" i="0" dirty="0">
                        <a:solidFill>
                          <a:srgbClr val="C00000"/>
                        </a:solidFill>
                      </a:endParaRPr>
                    </a:p>
                  </a:txBody>
                  <a:tcPr marL="68580" marR="68580" marT="34290" marB="34290"/>
                </a:tc>
                <a:extLst>
                  <a:ext uri="{0D108BD9-81ED-4DB2-BD59-A6C34878D82A}">
                    <a16:rowId xmlns:a16="http://schemas.microsoft.com/office/drawing/2014/main" val="1917969627"/>
                  </a:ext>
                </a:extLst>
              </a:tr>
              <a:tr h="627304">
                <a:tc>
                  <a:txBody>
                    <a:bodyPr/>
                    <a:lstStyle/>
                    <a:p>
                      <a:r>
                        <a:rPr lang="es" sz="1500" b="1" dirty="0"/>
                        <a:t>negación</a:t>
                      </a:r>
                      <a:endParaRPr lang="en-US" sz="1500" b="1" dirty="0"/>
                    </a:p>
                  </a:txBody>
                  <a:tcPr marL="68580" marR="68580" marT="34290" marB="34290"/>
                </a:tc>
                <a:tc>
                  <a:txBody>
                    <a:bodyPr/>
                    <a:lstStyle/>
                    <a:p>
                      <a:r>
                        <a:rPr lang="es" sz="1500" i="0" dirty="0">
                          <a:solidFill>
                            <a:srgbClr val="C00000"/>
                          </a:solidFill>
                        </a:rPr>
                        <a:t>Pensamiento: "No creo que esta persona sea un mendigo"</a:t>
                      </a:r>
                      <a:endParaRPr lang="en-US" sz="1500" i="0" dirty="0">
                        <a:solidFill>
                          <a:srgbClr val="C00000"/>
                        </a:solidFill>
                      </a:endParaRPr>
                    </a:p>
                  </a:txBody>
                  <a:tcPr marL="68580" marR="68580" marT="34290" marB="34290"/>
                </a:tc>
                <a:extLst>
                  <a:ext uri="{0D108BD9-81ED-4DB2-BD59-A6C34878D82A}">
                    <a16:rowId xmlns:a16="http://schemas.microsoft.com/office/drawing/2014/main" val="3429061263"/>
                  </a:ext>
                </a:extLst>
              </a:tr>
              <a:tr h="363438">
                <a:tc>
                  <a:txBody>
                    <a:bodyPr/>
                    <a:lstStyle/>
                    <a:p>
                      <a:r>
                        <a:rPr lang="es" sz="1500" b="1" dirty="0"/>
                        <a:t>trivialización</a:t>
                      </a:r>
                      <a:endParaRPr lang="en-US" sz="1500" b="1" dirty="0"/>
                    </a:p>
                  </a:txBody>
                  <a:tcPr marL="68580" marR="68580" marT="34290" marB="34290"/>
                </a:tc>
                <a:tc>
                  <a:txBody>
                    <a:bodyPr/>
                    <a:lstStyle/>
                    <a:p>
                      <a:r>
                        <a:rPr lang="es" sz="1500" i="0" dirty="0">
                          <a:solidFill>
                            <a:srgbClr val="C00000"/>
                          </a:solidFill>
                        </a:rPr>
                        <a:t>Pensamiento: "Mi ayuda es irrelevante"</a:t>
                      </a:r>
                      <a:endParaRPr lang="en-US" sz="1500" i="0" dirty="0">
                        <a:solidFill>
                          <a:srgbClr val="C00000"/>
                        </a:solidFill>
                      </a:endParaRPr>
                    </a:p>
                  </a:txBody>
                  <a:tcPr marL="68580" marR="68580" marT="34290" marB="34290"/>
                </a:tc>
                <a:extLst>
                  <a:ext uri="{0D108BD9-81ED-4DB2-BD59-A6C34878D82A}">
                    <a16:rowId xmlns:a16="http://schemas.microsoft.com/office/drawing/2014/main" val="294223569"/>
                  </a:ext>
                </a:extLst>
              </a:tr>
              <a:tr h="890802">
                <a:tc>
                  <a:txBody>
                    <a:bodyPr/>
                    <a:lstStyle/>
                    <a:p>
                      <a:r>
                        <a:rPr lang="es" sz="1500" b="1" dirty="0"/>
                        <a:t>añadir pensamiento consonante</a:t>
                      </a:r>
                      <a:endParaRPr lang="en-US" sz="1500" b="1" dirty="0"/>
                    </a:p>
                  </a:txBody>
                  <a:tcPr marL="68580" marR="68580" marT="34290" marB="34290"/>
                </a:tc>
                <a:tc>
                  <a:txBody>
                    <a:bodyPr/>
                    <a:lstStyle/>
                    <a:p>
                      <a:r>
                        <a:rPr lang="es" sz="1500" i="0" dirty="0">
                          <a:solidFill>
                            <a:srgbClr val="C00000"/>
                          </a:solidFill>
                        </a:rPr>
                        <a:t>Pensamiento: "Doy mucho dinero a organizaciones benéficas".</a:t>
                      </a:r>
                      <a:endParaRPr lang="en-US" sz="1500" i="0" dirty="0">
                        <a:solidFill>
                          <a:srgbClr val="C00000"/>
                        </a:solidFill>
                      </a:endParaRPr>
                    </a:p>
                  </a:txBody>
                  <a:tcPr marL="68580" marR="68580" marT="34290" marB="34290"/>
                </a:tc>
                <a:extLst>
                  <a:ext uri="{0D108BD9-81ED-4DB2-BD59-A6C34878D82A}">
                    <a16:rowId xmlns:a16="http://schemas.microsoft.com/office/drawing/2014/main" val="1821660030"/>
                  </a:ext>
                </a:extLst>
              </a:tr>
              <a:tr h="620862">
                <a:tc>
                  <a:txBody>
                    <a:bodyPr/>
                    <a:lstStyle/>
                    <a:p>
                      <a:r>
                        <a:rPr lang="es" sz="1500" b="1" dirty="0"/>
                        <a:t>buscar distracción</a:t>
                      </a:r>
                      <a:endParaRPr lang="en-US" sz="1500" b="1" dirty="0"/>
                    </a:p>
                  </a:txBody>
                  <a:tcPr marL="68580" marR="68580" marT="34290" marB="34290"/>
                </a:tc>
                <a:tc>
                  <a:txBody>
                    <a:bodyPr/>
                    <a:lstStyle/>
                    <a:p>
                      <a:r>
                        <a:rPr lang="es" sz="1500" i="0" dirty="0">
                          <a:solidFill>
                            <a:srgbClr val="C00000"/>
                          </a:solidFill>
                        </a:rPr>
                        <a:t>Comportamiento: Miro hacia un escaparate y me distraigo.</a:t>
                      </a:r>
                      <a:endParaRPr lang="en-US" sz="1500" i="0" dirty="0">
                        <a:solidFill>
                          <a:srgbClr val="C00000"/>
                        </a:solidFill>
                      </a:endParaRPr>
                    </a:p>
                  </a:txBody>
                  <a:tcPr marL="68580" marR="68580" marT="34290" marB="34290"/>
                </a:tc>
                <a:extLst>
                  <a:ext uri="{0D108BD9-81ED-4DB2-BD59-A6C34878D82A}">
                    <a16:rowId xmlns:a16="http://schemas.microsoft.com/office/drawing/2014/main" val="1543895608"/>
                  </a:ext>
                </a:extLst>
              </a:tr>
              <a:tr h="890802">
                <a:tc>
                  <a:txBody>
                    <a:bodyPr/>
                    <a:lstStyle/>
                    <a:p>
                      <a:r>
                        <a:rPr lang="es" sz="1500" b="1" dirty="0"/>
                        <a:t>desacoplar</a:t>
                      </a:r>
                      <a:endParaRPr lang="en-US" sz="1500" b="1" dirty="0"/>
                    </a:p>
                  </a:txBody>
                  <a:tcPr marL="68580" marR="68580" marT="34290" marB="34290"/>
                </a:tc>
                <a:tc>
                  <a:txBody>
                    <a:bodyPr/>
                    <a:lstStyle/>
                    <a:p>
                      <a:r>
                        <a:rPr lang="es" sz="1500" i="0" dirty="0">
                          <a:solidFill>
                            <a:srgbClr val="C00000"/>
                          </a:solidFill>
                        </a:rPr>
                        <a:t>Comportamiento: Evito lugares donde pueda encontrarme con personas mendigando.</a:t>
                      </a:r>
                      <a:endParaRPr lang="en-US" sz="1500" i="0" dirty="0">
                        <a:solidFill>
                          <a:srgbClr val="C00000"/>
                        </a:solidFill>
                      </a:endParaRPr>
                    </a:p>
                  </a:txBody>
                  <a:tcPr marL="68580" marR="68580" marT="34290" marB="34290"/>
                </a:tc>
                <a:extLst>
                  <a:ext uri="{0D108BD9-81ED-4DB2-BD59-A6C34878D82A}">
                    <a16:rowId xmlns:a16="http://schemas.microsoft.com/office/drawing/2014/main" val="3042750334"/>
                  </a:ext>
                </a:extLst>
              </a:tr>
            </a:tbl>
          </a:graphicData>
        </a:graphic>
      </p:graphicFrame>
    </p:spTree>
    <p:extLst>
      <p:ext uri="{BB962C8B-B14F-4D97-AF65-F5344CB8AC3E}">
        <p14:creationId xmlns:p14="http://schemas.microsoft.com/office/powerpoint/2010/main" val="32562619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0DD83-C928-E346-C7F5-24CF696CDACA}"/>
            </a:ext>
          </a:extLst>
        </p:cNvPr>
        <p:cNvGrpSpPr/>
        <p:nvPr/>
      </p:nvGrpSpPr>
      <p:grpSpPr>
        <a:xfrm>
          <a:off x="0" y="0"/>
          <a:ext cx="0" cy="0"/>
          <a:chOff x="0" y="0"/>
          <a:chExt cx="0" cy="0"/>
        </a:xfrm>
      </p:grpSpPr>
      <p:sp>
        <p:nvSpPr>
          <p:cNvPr id="6146" name="AutoShape 2">
            <a:extLst>
              <a:ext uri="{FF2B5EF4-FFF2-40B4-BE49-F238E27FC236}">
                <a16:creationId xmlns:a16="http://schemas.microsoft.com/office/drawing/2014/main" id="{4F6D0F27-F943-ECFD-00AB-1907379E4569}"/>
              </a:ext>
            </a:extLst>
          </p:cNvPr>
          <p:cNvSpPr>
            <a:spLocks noGrp="1" noChangeArrowheads="1"/>
          </p:cNvSpPr>
          <p:nvPr>
            <p:ph type="title"/>
          </p:nvPr>
        </p:nvSpPr>
        <p:spPr>
          <a:xfrm>
            <a:off x="971550" y="2362200"/>
            <a:ext cx="7200900" cy="762000"/>
          </a:xfrm>
        </p:spPr>
        <p:txBody>
          <a:bodyPr>
            <a:noAutofit/>
          </a:bodyPr>
          <a:lstStyle/>
          <a:p>
            <a:pPr algn="ctr"/>
            <a:r>
              <a:rPr lang="es-ES_tradnl" sz="3200" noProof="1"/>
              <a:t>2. Factores Relevantes en la Disonancia</a:t>
            </a:r>
          </a:p>
        </p:txBody>
      </p:sp>
    </p:spTree>
    <p:extLst>
      <p:ext uri="{BB962C8B-B14F-4D97-AF65-F5344CB8AC3E}">
        <p14:creationId xmlns:p14="http://schemas.microsoft.com/office/powerpoint/2010/main" val="88524558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84080-1F29-4FEF-B0DB-045015A06004}"/>
              </a:ext>
            </a:extLst>
          </p:cNvPr>
          <p:cNvSpPr>
            <a:spLocks noGrp="1"/>
          </p:cNvSpPr>
          <p:nvPr>
            <p:ph type="title"/>
          </p:nvPr>
        </p:nvSpPr>
        <p:spPr>
          <a:xfrm>
            <a:off x="628650" y="304800"/>
            <a:ext cx="7886700" cy="785192"/>
          </a:xfrm>
        </p:spPr>
        <p:txBody>
          <a:bodyPr>
            <a:noAutofit/>
          </a:bodyPr>
          <a:lstStyle/>
          <a:p>
            <a:pPr algn="ctr"/>
            <a:r>
              <a:rPr lang="es-ES" sz="2100" b="1" dirty="0"/>
              <a:t>2.1. Naturaleza de la Acción</a:t>
            </a:r>
            <a:endParaRPr lang="en-US" sz="2400" dirty="0"/>
          </a:p>
        </p:txBody>
      </p:sp>
      <p:graphicFrame>
        <p:nvGraphicFramePr>
          <p:cNvPr id="8" name="Table 8">
            <a:extLst>
              <a:ext uri="{FF2B5EF4-FFF2-40B4-BE49-F238E27FC236}">
                <a16:creationId xmlns:a16="http://schemas.microsoft.com/office/drawing/2014/main" id="{C20B7284-4D1A-4729-91C4-449BC9AEB2D8}"/>
              </a:ext>
            </a:extLst>
          </p:cNvPr>
          <p:cNvGraphicFramePr>
            <a:graphicFrameLocks noGrp="1"/>
          </p:cNvGraphicFramePr>
          <p:nvPr>
            <p:ph sz="half" idx="1"/>
            <p:extLst>
              <p:ext uri="{D42A27DB-BD31-4B8C-83A1-F6EECF244321}">
                <p14:modId xmlns:p14="http://schemas.microsoft.com/office/powerpoint/2010/main" val="3782930191"/>
              </p:ext>
            </p:extLst>
          </p:nvPr>
        </p:nvGraphicFramePr>
        <p:xfrm>
          <a:off x="0" y="1371600"/>
          <a:ext cx="9144001" cy="4777740"/>
        </p:xfrm>
        <a:graphic>
          <a:graphicData uri="http://schemas.openxmlformats.org/drawingml/2006/table">
            <a:tbl>
              <a:tblPr firstRow="1" bandRow="1">
                <a:tableStyleId>{5C22544A-7EE6-4342-B048-85BDC9FD1C3A}</a:tableStyleId>
              </a:tblPr>
              <a:tblGrid>
                <a:gridCol w="1447800">
                  <a:extLst>
                    <a:ext uri="{9D8B030D-6E8A-4147-A177-3AD203B41FA5}">
                      <a16:colId xmlns:a16="http://schemas.microsoft.com/office/drawing/2014/main" val="600100855"/>
                    </a:ext>
                  </a:extLst>
                </a:gridCol>
                <a:gridCol w="1295400">
                  <a:extLst>
                    <a:ext uri="{9D8B030D-6E8A-4147-A177-3AD203B41FA5}">
                      <a16:colId xmlns:a16="http://schemas.microsoft.com/office/drawing/2014/main" val="1579691166"/>
                    </a:ext>
                  </a:extLst>
                </a:gridCol>
                <a:gridCol w="1419123">
                  <a:extLst>
                    <a:ext uri="{9D8B030D-6E8A-4147-A177-3AD203B41FA5}">
                      <a16:colId xmlns:a16="http://schemas.microsoft.com/office/drawing/2014/main" val="2054483465"/>
                    </a:ext>
                  </a:extLst>
                </a:gridCol>
                <a:gridCol w="1857477">
                  <a:extLst>
                    <a:ext uri="{9D8B030D-6E8A-4147-A177-3AD203B41FA5}">
                      <a16:colId xmlns:a16="http://schemas.microsoft.com/office/drawing/2014/main" val="1464844665"/>
                    </a:ext>
                  </a:extLst>
                </a:gridCol>
                <a:gridCol w="1354395">
                  <a:extLst>
                    <a:ext uri="{9D8B030D-6E8A-4147-A177-3AD203B41FA5}">
                      <a16:colId xmlns:a16="http://schemas.microsoft.com/office/drawing/2014/main" val="118526238"/>
                    </a:ext>
                  </a:extLst>
                </a:gridCol>
                <a:gridCol w="1769806">
                  <a:extLst>
                    <a:ext uri="{9D8B030D-6E8A-4147-A177-3AD203B41FA5}">
                      <a16:colId xmlns:a16="http://schemas.microsoft.com/office/drawing/2014/main" val="3879557640"/>
                    </a:ext>
                  </a:extLst>
                </a:gridCol>
              </a:tblGrid>
              <a:tr h="533872">
                <a:tc>
                  <a:txBody>
                    <a:bodyPr/>
                    <a:lstStyle/>
                    <a:p>
                      <a:pPr algn="just"/>
                      <a:endParaRPr lang="en-US" sz="2000" dirty="0"/>
                    </a:p>
                  </a:txBody>
                  <a:tcPr marL="68580" marR="68580" marT="34290" marB="34290"/>
                </a:tc>
                <a:tc>
                  <a:txBody>
                    <a:bodyPr/>
                    <a:lstStyle/>
                    <a:p>
                      <a:pPr algn="just"/>
                      <a:r>
                        <a:rPr lang="es" sz="2000" dirty="0"/>
                        <a:t>Noción 1</a:t>
                      </a:r>
                      <a:endParaRPr lang="en-US" sz="2000" dirty="0"/>
                    </a:p>
                  </a:txBody>
                  <a:tcPr marL="68580" marR="68580" marT="34290" marB="34290"/>
                </a:tc>
                <a:tc>
                  <a:txBody>
                    <a:bodyPr/>
                    <a:lstStyle/>
                    <a:p>
                      <a:pPr algn="just"/>
                      <a:r>
                        <a:rPr lang="es" sz="2000" dirty="0"/>
                        <a:t>Noción 2</a:t>
                      </a:r>
                      <a:endParaRPr lang="en-US" sz="2000" dirty="0"/>
                    </a:p>
                  </a:txBody>
                  <a:tcPr marL="68580" marR="68580" marT="34290" marB="34290"/>
                </a:tc>
                <a:tc>
                  <a:txBody>
                    <a:bodyPr/>
                    <a:lstStyle/>
                    <a:p>
                      <a:pPr algn="just"/>
                      <a:r>
                        <a:rPr lang="es" sz="2000" dirty="0"/>
                        <a:t>Inconsistencia</a:t>
                      </a:r>
                      <a:endParaRPr lang="en-US" sz="2000" dirty="0"/>
                    </a:p>
                  </a:txBody>
                  <a:tcPr marL="68580" marR="68580" marT="34290" marB="34290"/>
                </a:tc>
                <a:tc>
                  <a:txBody>
                    <a:bodyPr/>
                    <a:lstStyle/>
                    <a:p>
                      <a:pPr algn="just"/>
                      <a:r>
                        <a:rPr lang="en-US" sz="2000" dirty="0" err="1"/>
                        <a:t>Emoción</a:t>
                      </a:r>
                      <a:r>
                        <a:rPr lang="en-US" sz="2000" dirty="0"/>
                        <a:t> </a:t>
                      </a:r>
                      <a:r>
                        <a:rPr lang="en-US" sz="2000" dirty="0" err="1"/>
                        <a:t>Resultante</a:t>
                      </a:r>
                      <a:endParaRPr lang="en-US" sz="2000" dirty="0"/>
                    </a:p>
                  </a:txBody>
                  <a:tcPr marL="68580" marR="68580" marT="34290" marB="34290"/>
                </a:tc>
                <a:tc>
                  <a:txBody>
                    <a:bodyPr/>
                    <a:lstStyle/>
                    <a:p>
                      <a:pPr algn="just"/>
                      <a:r>
                        <a:rPr lang="es" sz="2000" dirty="0"/>
                        <a:t>¿Cómo puedes reducir las molestias?</a:t>
                      </a:r>
                      <a:endParaRPr lang="en-US" sz="2000" dirty="0"/>
                    </a:p>
                  </a:txBody>
                  <a:tcPr marL="68580" marR="68580" marT="34290" marB="34290"/>
                </a:tc>
                <a:extLst>
                  <a:ext uri="{0D108BD9-81ED-4DB2-BD59-A6C34878D82A}">
                    <a16:rowId xmlns:a16="http://schemas.microsoft.com/office/drawing/2014/main" val="2713412133"/>
                  </a:ext>
                </a:extLst>
              </a:tr>
              <a:tr h="754380">
                <a:tc>
                  <a:txBody>
                    <a:bodyPr/>
                    <a:lstStyle/>
                    <a:p>
                      <a:r>
                        <a:rPr lang="es" sz="2000" b="1" dirty="0"/>
                        <a:t>Acción Reversible</a:t>
                      </a:r>
                      <a:endParaRPr lang="en-US" sz="2000" b="1" dirty="0"/>
                    </a:p>
                  </a:txBody>
                  <a:tcPr marL="68580" marR="68580" marT="34290" marB="34290"/>
                </a:tc>
                <a:tc>
                  <a:txBody>
                    <a:bodyPr/>
                    <a:lstStyle/>
                    <a:p>
                      <a:r>
                        <a:rPr lang="es" sz="2000" dirty="0"/>
                        <a:t>Estás clavando un clavo</a:t>
                      </a:r>
                      <a:endParaRPr lang="en-US" sz="2000" dirty="0"/>
                    </a:p>
                  </a:txBody>
                  <a:tcPr marL="68580" marR="68580" marT="34290" marB="34290"/>
                </a:tc>
                <a:tc>
                  <a:txBody>
                    <a:bodyPr/>
                    <a:lstStyle/>
                    <a:p>
                      <a:r>
                        <a:rPr lang="es" sz="2000" dirty="0"/>
                        <a:t>Le diste al clavo un par de veces</a:t>
                      </a:r>
                      <a:endParaRPr lang="en-US" sz="2000" dirty="0"/>
                    </a:p>
                  </a:txBody>
                  <a:tcPr marL="68580" marR="68580" marT="34290" marB="34290"/>
                </a:tc>
                <a:tc>
                  <a:txBody>
                    <a:bodyPr/>
                    <a:lstStyle/>
                    <a:p>
                      <a:r>
                        <a:rPr lang="es" sz="2000" dirty="0">
                          <a:solidFill>
                            <a:srgbClr val="C00000"/>
                          </a:solidFill>
                        </a:rPr>
                        <a:t>La tarea no se completará de esta manera</a:t>
                      </a:r>
                      <a:endParaRPr lang="en-US" sz="2000" dirty="0">
                        <a:solidFill>
                          <a:srgbClr val="C00000"/>
                        </a:solidFill>
                      </a:endParaRPr>
                    </a:p>
                  </a:txBody>
                  <a:tcPr marL="68580" marR="68580" marT="34290" marB="34290"/>
                </a:tc>
                <a:tc>
                  <a:txBody>
                    <a:bodyPr/>
                    <a:lstStyle/>
                    <a:p>
                      <a:r>
                        <a:rPr lang="en-US" sz="2000" dirty="0" err="1">
                          <a:solidFill>
                            <a:srgbClr val="C00000"/>
                          </a:solidFill>
                        </a:rPr>
                        <a:t>Cierta</a:t>
                      </a:r>
                      <a:r>
                        <a:rPr lang="en-US" sz="2000" dirty="0">
                          <a:solidFill>
                            <a:srgbClr val="C00000"/>
                          </a:solidFill>
                        </a:rPr>
                        <a:t> </a:t>
                      </a:r>
                      <a:r>
                        <a:rPr lang="en-US" sz="2000" dirty="0" err="1">
                          <a:solidFill>
                            <a:srgbClr val="C00000"/>
                          </a:solidFill>
                        </a:rPr>
                        <a:t>Molestia</a:t>
                      </a:r>
                      <a:endParaRPr lang="en-US" sz="2000" dirty="0">
                        <a:solidFill>
                          <a:srgbClr val="C00000"/>
                        </a:solidFill>
                      </a:endParaRPr>
                    </a:p>
                  </a:txBody>
                  <a:tcPr marL="68580" marR="68580" marT="34290" marB="34290"/>
                </a:tc>
                <a:tc>
                  <a:txBody>
                    <a:bodyPr/>
                    <a:lstStyle/>
                    <a:p>
                      <a:r>
                        <a:rPr lang="es" sz="2000" dirty="0">
                          <a:solidFill>
                            <a:srgbClr val="C00000"/>
                          </a:solidFill>
                        </a:rPr>
                        <a:t>Lo intentas hacer mejor</a:t>
                      </a:r>
                      <a:endParaRPr lang="en-US" sz="2000" dirty="0">
                        <a:solidFill>
                          <a:srgbClr val="C00000"/>
                        </a:solidFill>
                      </a:endParaRPr>
                    </a:p>
                  </a:txBody>
                  <a:tcPr marL="68580" marR="68580" marT="34290" marB="34290"/>
                </a:tc>
                <a:extLst>
                  <a:ext uri="{0D108BD9-81ED-4DB2-BD59-A6C34878D82A}">
                    <a16:rowId xmlns:a16="http://schemas.microsoft.com/office/drawing/2014/main" val="3191345837"/>
                  </a:ext>
                </a:extLst>
              </a:tr>
              <a:tr h="754380">
                <a:tc>
                  <a:txBody>
                    <a:bodyPr/>
                    <a:lstStyle/>
                    <a:p>
                      <a:r>
                        <a:rPr lang="es" sz="2000" b="1" dirty="0"/>
                        <a:t>Acción Irreversible</a:t>
                      </a:r>
                      <a:endParaRPr lang="en-US" sz="2000" b="1" dirty="0"/>
                    </a:p>
                  </a:txBody>
                  <a:tcPr marL="68580" marR="68580" marT="34290" marB="34290"/>
                </a:tc>
                <a:tc>
                  <a:txBody>
                    <a:bodyPr/>
                    <a:lstStyle/>
                    <a:p>
                      <a:r>
                        <a:rPr lang="es" sz="2000" dirty="0"/>
                        <a:t>Pones sal en una olla mientras cocinas durante horas</a:t>
                      </a:r>
                      <a:endParaRPr lang="en-US" sz="2000" dirty="0"/>
                    </a:p>
                  </a:txBody>
                  <a:tcPr marL="68580" marR="68580" marT="34290" marB="34290"/>
                </a:tc>
                <a:tc>
                  <a:txBody>
                    <a:bodyPr/>
                    <a:lstStyle/>
                    <a:p>
                      <a:r>
                        <a:rPr lang="es" sz="2000" dirty="0"/>
                        <a:t>Una vez cocinado, pruebas la comida y te das cuenta de que no es comestible.</a:t>
                      </a:r>
                      <a:endParaRPr lang="en-US" sz="2000" dirty="0"/>
                    </a:p>
                  </a:txBody>
                  <a:tcPr marL="68580" marR="68580" marT="34290" marB="34290"/>
                </a:tc>
                <a:tc>
                  <a:txBody>
                    <a:bodyPr/>
                    <a:lstStyle/>
                    <a:p>
                      <a:r>
                        <a:rPr lang="es" sz="2000" dirty="0">
                          <a:solidFill>
                            <a:srgbClr val="C00000"/>
                          </a:solidFill>
                        </a:rPr>
                        <a:t>La comida ha sido un desastre.</a:t>
                      </a:r>
                      <a:endParaRPr lang="en-US" sz="2000" dirty="0">
                        <a:solidFill>
                          <a:srgbClr val="C00000"/>
                        </a:solidFill>
                      </a:endParaRPr>
                    </a:p>
                  </a:txBody>
                  <a:tcPr marL="68580" marR="68580" marT="34290" marB="34290"/>
                </a:tc>
                <a:tc>
                  <a:txBody>
                    <a:bodyPr/>
                    <a:lstStyle/>
                    <a:p>
                      <a:r>
                        <a:rPr lang="en-US" sz="2000" dirty="0" err="1">
                          <a:solidFill>
                            <a:srgbClr val="C00000"/>
                          </a:solidFill>
                        </a:rPr>
                        <a:t>Molestia</a:t>
                      </a:r>
                      <a:r>
                        <a:rPr lang="en-US" sz="2000" dirty="0">
                          <a:solidFill>
                            <a:srgbClr val="C00000"/>
                          </a:solidFill>
                        </a:rPr>
                        <a:t> Extrema</a:t>
                      </a:r>
                    </a:p>
                  </a:txBody>
                  <a:tcPr marL="68580" marR="68580" marT="34290" marB="34290"/>
                </a:tc>
                <a:tc>
                  <a:txBody>
                    <a:bodyPr/>
                    <a:lstStyle/>
                    <a:p>
                      <a:r>
                        <a:rPr lang="es" sz="2000" dirty="0">
                          <a:solidFill>
                            <a:srgbClr val="C00000"/>
                          </a:solidFill>
                        </a:rPr>
                        <a:t>Cocinas una comida nueva / Afirmas que no está tan mala y te la comes</a:t>
                      </a:r>
                      <a:endParaRPr lang="en-US" sz="2000" dirty="0">
                        <a:solidFill>
                          <a:srgbClr val="C00000"/>
                        </a:solidFill>
                      </a:endParaRPr>
                    </a:p>
                  </a:txBody>
                  <a:tcPr marL="68580" marR="68580" marT="34290" marB="34290"/>
                </a:tc>
                <a:extLst>
                  <a:ext uri="{0D108BD9-81ED-4DB2-BD59-A6C34878D82A}">
                    <a16:rowId xmlns:a16="http://schemas.microsoft.com/office/drawing/2014/main" val="3235328852"/>
                  </a:ext>
                </a:extLst>
              </a:tr>
            </a:tbl>
          </a:graphicData>
        </a:graphic>
      </p:graphicFrame>
    </p:spTree>
    <p:extLst>
      <p:ext uri="{BB962C8B-B14F-4D97-AF65-F5344CB8AC3E}">
        <p14:creationId xmlns:p14="http://schemas.microsoft.com/office/powerpoint/2010/main" val="921954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0A571-1CF1-A207-87B9-B892A904F8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11206E-010C-00B4-F081-DDB7DD0A9715}"/>
              </a:ext>
            </a:extLst>
          </p:cNvPr>
          <p:cNvSpPr>
            <a:spLocks noGrp="1"/>
          </p:cNvSpPr>
          <p:nvPr>
            <p:ph type="title"/>
          </p:nvPr>
        </p:nvSpPr>
        <p:spPr>
          <a:xfrm>
            <a:off x="628650" y="304800"/>
            <a:ext cx="7886700" cy="785192"/>
          </a:xfrm>
        </p:spPr>
        <p:txBody>
          <a:bodyPr>
            <a:noAutofit/>
          </a:bodyPr>
          <a:lstStyle/>
          <a:p>
            <a:pPr algn="ctr"/>
            <a:r>
              <a:rPr lang="es-ES" sz="3200" b="1" dirty="0"/>
              <a:t>2.1. Naturaleza de la Acción (</a:t>
            </a:r>
            <a:r>
              <a:rPr lang="es-ES" sz="3200" b="1" dirty="0" err="1"/>
              <a:t>Action-Based</a:t>
            </a:r>
            <a:r>
              <a:rPr lang="es-ES" sz="3200" b="1" dirty="0"/>
              <a:t> </a:t>
            </a:r>
            <a:r>
              <a:rPr lang="es-ES" sz="3200" b="1" dirty="0" err="1"/>
              <a:t>Model</a:t>
            </a:r>
            <a:r>
              <a:rPr lang="es-ES" sz="3200" b="1" dirty="0"/>
              <a:t>, Harmon-Jones et al. (2009))</a:t>
            </a:r>
            <a:endParaRPr lang="en-US" sz="3200" dirty="0"/>
          </a:p>
        </p:txBody>
      </p:sp>
      <p:sp>
        <p:nvSpPr>
          <p:cNvPr id="4" name="Marcador de contenido 3">
            <a:extLst>
              <a:ext uri="{FF2B5EF4-FFF2-40B4-BE49-F238E27FC236}">
                <a16:creationId xmlns:a16="http://schemas.microsoft.com/office/drawing/2014/main" id="{958E29B1-D736-507D-732F-D4A2F7E7374F}"/>
              </a:ext>
            </a:extLst>
          </p:cNvPr>
          <p:cNvSpPr>
            <a:spLocks noGrp="1"/>
          </p:cNvSpPr>
          <p:nvPr>
            <p:ph sz="half" idx="1"/>
          </p:nvPr>
        </p:nvSpPr>
        <p:spPr>
          <a:xfrm>
            <a:off x="762000" y="1600200"/>
            <a:ext cx="8134350" cy="4876801"/>
          </a:xfrm>
        </p:spPr>
        <p:txBody>
          <a:bodyPr>
            <a:normAutofit/>
          </a:bodyPr>
          <a:lstStyle/>
          <a:p>
            <a:pPr>
              <a:buNone/>
            </a:pPr>
            <a:r>
              <a:rPr lang="es-ES" b="1" dirty="0"/>
              <a:t>Pregunta clave:</a:t>
            </a:r>
          </a:p>
          <a:p>
            <a:pPr>
              <a:buNone/>
            </a:pPr>
            <a:r>
              <a:rPr lang="es-ES" b="1" dirty="0"/>
              <a:t>¿Se puede deshacer lo que hice?</a:t>
            </a:r>
            <a:endParaRPr lang="es-ES" dirty="0"/>
          </a:p>
          <a:p>
            <a:pPr>
              <a:buFont typeface="Arial" panose="020B0604020202020204" pitchFamily="34" charset="0"/>
              <a:buChar char="•"/>
            </a:pPr>
            <a:r>
              <a:rPr lang="es-ES" dirty="0"/>
              <a:t>Si la acción ha ocurrido y </a:t>
            </a:r>
            <a:r>
              <a:rPr lang="es-ES" b="1" dirty="0"/>
              <a:t>no se puede cambiar</a:t>
            </a:r>
            <a:r>
              <a:rPr lang="es-ES" dirty="0"/>
              <a:t>, aumenta la necesidad de justificarla.</a:t>
            </a:r>
          </a:p>
          <a:p>
            <a:pPr>
              <a:buFont typeface="Arial" panose="020B0604020202020204" pitchFamily="34" charset="0"/>
              <a:buChar char="•"/>
            </a:pPr>
            <a:r>
              <a:rPr lang="es-ES" dirty="0"/>
              <a:t>La disonancia no es solo cognitiva, también es </a:t>
            </a:r>
            <a:r>
              <a:rPr lang="es-ES" b="1" dirty="0"/>
              <a:t>motora y conductual</a:t>
            </a:r>
            <a:r>
              <a:rPr lang="es-ES" dirty="0"/>
              <a:t>:</a:t>
            </a:r>
            <a:br>
              <a:rPr lang="es-ES" dirty="0"/>
            </a:br>
            <a:r>
              <a:rPr lang="es-ES" dirty="0"/>
              <a:t>→ es más fuerte cuando “ya se ha actuado en una dirección” y </a:t>
            </a:r>
            <a:r>
              <a:rPr lang="es-ES" b="1" dirty="0"/>
              <a:t>hay que avanzar sin bloquearse</a:t>
            </a:r>
            <a:r>
              <a:rPr lang="es-ES" dirty="0"/>
              <a:t>.</a:t>
            </a:r>
          </a:p>
          <a:p>
            <a:pPr>
              <a:buNone/>
            </a:pPr>
            <a:endParaRPr lang="es-ES" b="1" dirty="0"/>
          </a:p>
          <a:p>
            <a:pPr>
              <a:buNone/>
            </a:pPr>
            <a:r>
              <a:rPr lang="es-ES" b="1" dirty="0"/>
              <a:t>Ejemplo experimental clásico:</a:t>
            </a:r>
          </a:p>
          <a:p>
            <a:pPr>
              <a:buFont typeface="Arial" panose="020B0604020202020204" pitchFamily="34" charset="0"/>
              <a:buChar char="•"/>
            </a:pPr>
            <a:r>
              <a:rPr lang="es-ES" dirty="0" err="1"/>
              <a:t>Brehm</a:t>
            </a:r>
            <a:r>
              <a:rPr lang="es-ES" dirty="0"/>
              <a:t> (1956): elecciones entre objetos muy similares.</a:t>
            </a:r>
            <a:br>
              <a:rPr lang="es-ES" dirty="0"/>
            </a:br>
            <a:r>
              <a:rPr lang="es-ES" dirty="0"/>
              <a:t>Una vez elegidos → se valora más el elegido y se devalúa el rechazado. → </a:t>
            </a:r>
            <a:r>
              <a:rPr lang="es-ES" b="1" dirty="0"/>
              <a:t>justificación </a:t>
            </a:r>
            <a:r>
              <a:rPr lang="es-ES" b="1" dirty="0" err="1"/>
              <a:t>postdecisional</a:t>
            </a:r>
            <a:r>
              <a:rPr lang="es-ES" dirty="0"/>
              <a:t>.</a:t>
            </a:r>
          </a:p>
          <a:p>
            <a:endParaRPr lang="en-GB" dirty="0"/>
          </a:p>
        </p:txBody>
      </p:sp>
    </p:spTree>
    <p:extLst>
      <p:ext uri="{BB962C8B-B14F-4D97-AF65-F5344CB8AC3E}">
        <p14:creationId xmlns:p14="http://schemas.microsoft.com/office/powerpoint/2010/main" val="18426248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A3485-B9AD-2783-31EB-1E379E8EDD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92438F-B44C-9F2A-D0B3-5AD25DEE77A5}"/>
              </a:ext>
            </a:extLst>
          </p:cNvPr>
          <p:cNvSpPr>
            <a:spLocks noGrp="1"/>
          </p:cNvSpPr>
          <p:nvPr>
            <p:ph type="title"/>
          </p:nvPr>
        </p:nvSpPr>
        <p:spPr>
          <a:xfrm>
            <a:off x="628650" y="152400"/>
            <a:ext cx="7886700" cy="785192"/>
          </a:xfrm>
        </p:spPr>
        <p:txBody>
          <a:bodyPr>
            <a:noAutofit/>
          </a:bodyPr>
          <a:lstStyle/>
          <a:p>
            <a:pPr algn="ctr"/>
            <a:r>
              <a:rPr lang="es-ES" sz="3200" b="1" dirty="0"/>
              <a:t>2.2. Relevancia de la Actitud (Festinger, 1957)</a:t>
            </a:r>
            <a:endParaRPr lang="en-US" sz="3200" dirty="0"/>
          </a:p>
        </p:txBody>
      </p:sp>
      <p:graphicFrame>
        <p:nvGraphicFramePr>
          <p:cNvPr id="8" name="Table 8">
            <a:extLst>
              <a:ext uri="{FF2B5EF4-FFF2-40B4-BE49-F238E27FC236}">
                <a16:creationId xmlns:a16="http://schemas.microsoft.com/office/drawing/2014/main" id="{7BF76293-FE61-5EF0-FE3E-FC54D280B696}"/>
              </a:ext>
            </a:extLst>
          </p:cNvPr>
          <p:cNvGraphicFramePr>
            <a:graphicFrameLocks noGrp="1"/>
          </p:cNvGraphicFramePr>
          <p:nvPr>
            <p:ph sz="half" idx="1"/>
            <p:extLst>
              <p:ext uri="{D42A27DB-BD31-4B8C-83A1-F6EECF244321}">
                <p14:modId xmlns:p14="http://schemas.microsoft.com/office/powerpoint/2010/main" val="79381809"/>
              </p:ext>
            </p:extLst>
          </p:nvPr>
        </p:nvGraphicFramePr>
        <p:xfrm>
          <a:off x="0" y="937592"/>
          <a:ext cx="9144001" cy="477774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600100855"/>
                    </a:ext>
                  </a:extLst>
                </a:gridCol>
                <a:gridCol w="1447800">
                  <a:extLst>
                    <a:ext uri="{9D8B030D-6E8A-4147-A177-3AD203B41FA5}">
                      <a16:colId xmlns:a16="http://schemas.microsoft.com/office/drawing/2014/main" val="1579691166"/>
                    </a:ext>
                  </a:extLst>
                </a:gridCol>
                <a:gridCol w="1342923">
                  <a:extLst>
                    <a:ext uri="{9D8B030D-6E8A-4147-A177-3AD203B41FA5}">
                      <a16:colId xmlns:a16="http://schemas.microsoft.com/office/drawing/2014/main" val="2054483465"/>
                    </a:ext>
                  </a:extLst>
                </a:gridCol>
                <a:gridCol w="1781277">
                  <a:extLst>
                    <a:ext uri="{9D8B030D-6E8A-4147-A177-3AD203B41FA5}">
                      <a16:colId xmlns:a16="http://schemas.microsoft.com/office/drawing/2014/main" val="1464844665"/>
                    </a:ext>
                  </a:extLst>
                </a:gridCol>
                <a:gridCol w="1430595">
                  <a:extLst>
                    <a:ext uri="{9D8B030D-6E8A-4147-A177-3AD203B41FA5}">
                      <a16:colId xmlns:a16="http://schemas.microsoft.com/office/drawing/2014/main" val="2743941183"/>
                    </a:ext>
                  </a:extLst>
                </a:gridCol>
                <a:gridCol w="1769806">
                  <a:extLst>
                    <a:ext uri="{9D8B030D-6E8A-4147-A177-3AD203B41FA5}">
                      <a16:colId xmlns:a16="http://schemas.microsoft.com/office/drawing/2014/main" val="3879557640"/>
                    </a:ext>
                  </a:extLst>
                </a:gridCol>
              </a:tblGrid>
              <a:tr h="0">
                <a:tc>
                  <a:txBody>
                    <a:bodyPr/>
                    <a:lstStyle/>
                    <a:p>
                      <a:endParaRPr lang="en-US" sz="2000" dirty="0"/>
                    </a:p>
                  </a:txBody>
                  <a:tcPr marL="68580" marR="68580" marT="34290" marB="34290"/>
                </a:tc>
                <a:tc>
                  <a:txBody>
                    <a:bodyPr/>
                    <a:lstStyle/>
                    <a:p>
                      <a:r>
                        <a:rPr lang="es" sz="2000" dirty="0"/>
                        <a:t>Noción 1</a:t>
                      </a:r>
                      <a:endParaRPr lang="en-US" sz="2000" dirty="0"/>
                    </a:p>
                  </a:txBody>
                  <a:tcPr marL="68580" marR="68580" marT="34290" marB="34290"/>
                </a:tc>
                <a:tc>
                  <a:txBody>
                    <a:bodyPr/>
                    <a:lstStyle/>
                    <a:p>
                      <a:r>
                        <a:rPr lang="es" sz="2000" dirty="0"/>
                        <a:t>Noción 2</a:t>
                      </a:r>
                      <a:endParaRPr lang="en-US" sz="2000" dirty="0"/>
                    </a:p>
                  </a:txBody>
                  <a:tcPr marL="68580" marR="68580" marT="34290" marB="34290"/>
                </a:tc>
                <a:tc>
                  <a:txBody>
                    <a:bodyPr/>
                    <a:lstStyle/>
                    <a:p>
                      <a:r>
                        <a:rPr lang="es" sz="2000" dirty="0"/>
                        <a:t>Inconsistencia</a:t>
                      </a:r>
                      <a:endParaRPr lang="en-US" sz="2000" dirty="0"/>
                    </a:p>
                  </a:txBody>
                  <a:tcPr marL="68580" marR="68580" marT="34290" marB="34290"/>
                </a:tc>
                <a:tc>
                  <a:txBody>
                    <a:bodyPr/>
                    <a:lstStyle/>
                    <a:p>
                      <a:r>
                        <a:rPr lang="en-US" sz="2000" dirty="0" err="1"/>
                        <a:t>Emoción</a:t>
                      </a:r>
                      <a:r>
                        <a:rPr lang="en-US" sz="2000" dirty="0"/>
                        <a:t> </a:t>
                      </a:r>
                      <a:r>
                        <a:rPr lang="en-US" sz="2000" dirty="0" err="1"/>
                        <a:t>Resultante</a:t>
                      </a:r>
                      <a:endParaRPr lang="en-US" sz="2000" dirty="0"/>
                    </a:p>
                  </a:txBody>
                  <a:tcPr marL="68580" marR="68580" marT="34290" marB="34290"/>
                </a:tc>
                <a:tc>
                  <a:txBody>
                    <a:bodyPr/>
                    <a:lstStyle/>
                    <a:p>
                      <a:r>
                        <a:rPr lang="es" sz="2000" dirty="0"/>
                        <a:t>¿Cómo puedes reducir las molestias?</a:t>
                      </a:r>
                      <a:endParaRPr lang="en-US" sz="2000" dirty="0"/>
                    </a:p>
                  </a:txBody>
                  <a:tcPr marL="68580" marR="68580" marT="34290" marB="34290"/>
                </a:tc>
                <a:extLst>
                  <a:ext uri="{0D108BD9-81ED-4DB2-BD59-A6C34878D82A}">
                    <a16:rowId xmlns:a16="http://schemas.microsoft.com/office/drawing/2014/main" val="2713412133"/>
                  </a:ext>
                </a:extLst>
              </a:tr>
              <a:tr h="982980">
                <a:tc>
                  <a:txBody>
                    <a:bodyPr/>
                    <a:lstStyle/>
                    <a:p>
                      <a:r>
                        <a:rPr lang="es" sz="2000" b="1" dirty="0"/>
                        <a:t>Baja relevancia</a:t>
                      </a:r>
                      <a:endParaRPr lang="en-US" sz="2000" b="1" dirty="0"/>
                    </a:p>
                  </a:txBody>
                  <a:tcPr marL="68580" marR="68580" marT="34290" marB="34290"/>
                </a:tc>
                <a:tc>
                  <a:txBody>
                    <a:bodyPr/>
                    <a:lstStyle/>
                    <a:p>
                      <a:r>
                        <a:rPr lang="es" sz="2000" dirty="0"/>
                        <a:t>No te gusta un político de otro país</a:t>
                      </a:r>
                      <a:endParaRPr lang="en-US" sz="2000" dirty="0"/>
                    </a:p>
                  </a:txBody>
                  <a:tcPr marL="68580" marR="68580" marT="34290" marB="34290"/>
                </a:tc>
                <a:tc>
                  <a:txBody>
                    <a:bodyPr/>
                    <a:lstStyle/>
                    <a:p>
                      <a:r>
                        <a:rPr lang="es" sz="2000" dirty="0"/>
                        <a:t>Lees en prensa que el político hizo algo bueno.</a:t>
                      </a:r>
                      <a:endParaRPr lang="en-US" sz="2000" dirty="0"/>
                    </a:p>
                  </a:txBody>
                  <a:tcPr marL="68580" marR="68580" marT="34290" marB="34290"/>
                </a:tc>
                <a:tc>
                  <a:txBody>
                    <a:bodyPr/>
                    <a:lstStyle/>
                    <a:p>
                      <a:r>
                        <a:rPr lang="es" sz="2000" dirty="0">
                          <a:solidFill>
                            <a:srgbClr val="C00000"/>
                          </a:solidFill>
                        </a:rPr>
                        <a:t>La realidad es incompatible con tu creencia</a:t>
                      </a:r>
                      <a:endParaRPr lang="en-US" sz="2000" dirty="0">
                        <a:solidFill>
                          <a:srgbClr val="C00000"/>
                        </a:solidFill>
                      </a:endParaRPr>
                    </a:p>
                  </a:txBody>
                  <a:tcPr marL="68580" marR="68580" marT="34290" marB="34290"/>
                </a:tc>
                <a:tc>
                  <a:txBody>
                    <a:bodyPr/>
                    <a:lstStyle/>
                    <a:p>
                      <a:r>
                        <a:rPr lang="en-US" sz="2000" dirty="0">
                          <a:solidFill>
                            <a:srgbClr val="C00000"/>
                          </a:solidFill>
                        </a:rPr>
                        <a:t>Baja </a:t>
                      </a:r>
                      <a:r>
                        <a:rPr lang="en-US" sz="2000" dirty="0" err="1">
                          <a:solidFill>
                            <a:srgbClr val="C00000"/>
                          </a:solidFill>
                        </a:rPr>
                        <a:t>molestia</a:t>
                      </a:r>
                      <a:endParaRPr lang="en-US" sz="2000" dirty="0">
                        <a:solidFill>
                          <a:srgbClr val="C00000"/>
                        </a:solidFill>
                      </a:endParaRPr>
                    </a:p>
                  </a:txBody>
                  <a:tcPr marL="68580" marR="68580" marT="34290" marB="34290"/>
                </a:tc>
                <a:tc>
                  <a:txBody>
                    <a:bodyPr/>
                    <a:lstStyle/>
                    <a:p>
                      <a:r>
                        <a:rPr lang="es" sz="2000" dirty="0">
                          <a:solidFill>
                            <a:srgbClr val="C00000"/>
                          </a:solidFill>
                        </a:rPr>
                        <a:t>Cambio la opinión del político (no es tan importante para mí)</a:t>
                      </a:r>
                      <a:endParaRPr lang="en-US" sz="2000" dirty="0">
                        <a:solidFill>
                          <a:srgbClr val="C00000"/>
                        </a:solidFill>
                      </a:endParaRPr>
                    </a:p>
                  </a:txBody>
                  <a:tcPr marL="68580" marR="68580" marT="34290" marB="34290"/>
                </a:tc>
                <a:extLst>
                  <a:ext uri="{0D108BD9-81ED-4DB2-BD59-A6C34878D82A}">
                    <a16:rowId xmlns:a16="http://schemas.microsoft.com/office/drawing/2014/main" val="1547109210"/>
                  </a:ext>
                </a:extLst>
              </a:tr>
              <a:tr h="982980">
                <a:tc>
                  <a:txBody>
                    <a:bodyPr/>
                    <a:lstStyle/>
                    <a:p>
                      <a:r>
                        <a:rPr lang="es" sz="2000" b="1" dirty="0"/>
                        <a:t>Alta relevancia</a:t>
                      </a:r>
                      <a:endParaRPr lang="en-US" sz="2000" b="1" dirty="0"/>
                    </a:p>
                  </a:txBody>
                  <a:tcPr marL="68580" marR="68580" marT="34290" marB="34290"/>
                </a:tc>
                <a:tc>
                  <a:txBody>
                    <a:bodyPr/>
                    <a:lstStyle/>
                    <a:p>
                      <a:r>
                        <a:rPr lang="es" sz="2000" dirty="0"/>
                        <a:t>Crees que trabajas mucho y bien</a:t>
                      </a:r>
                      <a:endParaRPr lang="en-US" sz="2000" dirty="0"/>
                    </a:p>
                  </a:txBody>
                  <a:tcPr marL="68580" marR="68580" marT="34290" marB="34290"/>
                </a:tc>
                <a:tc>
                  <a:txBody>
                    <a:bodyPr/>
                    <a:lstStyle/>
                    <a:p>
                      <a:r>
                        <a:rPr lang="es" sz="2000" dirty="0"/>
                        <a:t>Estás despedido de tu trabajo</a:t>
                      </a:r>
                      <a:endParaRPr lang="en-US" sz="2000" dirty="0"/>
                    </a:p>
                  </a:txBody>
                  <a:tcPr marL="68580" marR="68580" marT="34290" marB="34290"/>
                </a:tc>
                <a:tc>
                  <a:txBody>
                    <a:bodyPr/>
                    <a:lstStyle/>
                    <a:p>
                      <a:r>
                        <a:rPr lang="es" sz="2000" dirty="0">
                          <a:solidFill>
                            <a:srgbClr val="C00000"/>
                          </a:solidFill>
                        </a:rPr>
                        <a:t>Esto NO debería pasarles a los buenos trabajadores</a:t>
                      </a:r>
                      <a:endParaRPr lang="en-US" sz="2000" dirty="0">
                        <a:solidFill>
                          <a:srgbClr val="C00000"/>
                        </a:solidFill>
                      </a:endParaRPr>
                    </a:p>
                  </a:txBody>
                  <a:tcPr marL="68580" marR="68580" marT="34290" marB="34290"/>
                </a:tc>
                <a:tc>
                  <a:txBody>
                    <a:bodyPr/>
                    <a:lstStyle/>
                    <a:p>
                      <a:r>
                        <a:rPr lang="en-US" sz="2000" dirty="0">
                          <a:solidFill>
                            <a:srgbClr val="C00000"/>
                          </a:solidFill>
                        </a:rPr>
                        <a:t>Alta </a:t>
                      </a:r>
                      <a:r>
                        <a:rPr lang="en-US" sz="2000" dirty="0" err="1">
                          <a:solidFill>
                            <a:srgbClr val="C00000"/>
                          </a:solidFill>
                        </a:rPr>
                        <a:t>molestia</a:t>
                      </a:r>
                      <a:endParaRPr lang="en-US" sz="2000" dirty="0">
                        <a:solidFill>
                          <a:srgbClr val="C00000"/>
                        </a:solidFill>
                      </a:endParaRPr>
                    </a:p>
                  </a:txBody>
                  <a:tcPr marL="68580" marR="68580" marT="34290" marB="34290"/>
                </a:tc>
                <a:tc>
                  <a:txBody>
                    <a:bodyPr/>
                    <a:lstStyle/>
                    <a:p>
                      <a:r>
                        <a:rPr lang="es" sz="2000" dirty="0">
                          <a:solidFill>
                            <a:srgbClr val="C00000"/>
                          </a:solidFill>
                        </a:rPr>
                        <a:t>Me digo a mí mismo que no era un gran trabajo; busco un mejor trabajo</a:t>
                      </a:r>
                      <a:endParaRPr lang="en-US" sz="2000" dirty="0">
                        <a:solidFill>
                          <a:srgbClr val="C00000"/>
                        </a:solidFill>
                      </a:endParaRPr>
                    </a:p>
                  </a:txBody>
                  <a:tcPr marL="68580" marR="68580" marT="34290" marB="34290"/>
                </a:tc>
                <a:extLst>
                  <a:ext uri="{0D108BD9-81ED-4DB2-BD59-A6C34878D82A}">
                    <a16:rowId xmlns:a16="http://schemas.microsoft.com/office/drawing/2014/main" val="3752987014"/>
                  </a:ext>
                </a:extLst>
              </a:tr>
            </a:tbl>
          </a:graphicData>
        </a:graphic>
      </p:graphicFrame>
    </p:spTree>
    <p:extLst>
      <p:ext uri="{BB962C8B-B14F-4D97-AF65-F5344CB8AC3E}">
        <p14:creationId xmlns:p14="http://schemas.microsoft.com/office/powerpoint/2010/main" val="2671182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B56BE-FA72-A6A7-5D42-A144E84D6C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72FD0E-4786-1DA3-2BD7-6020157015EF}"/>
              </a:ext>
            </a:extLst>
          </p:cNvPr>
          <p:cNvSpPr>
            <a:spLocks noGrp="1"/>
          </p:cNvSpPr>
          <p:nvPr>
            <p:ph type="title"/>
          </p:nvPr>
        </p:nvSpPr>
        <p:spPr>
          <a:xfrm>
            <a:off x="628650" y="152400"/>
            <a:ext cx="7886700" cy="785192"/>
          </a:xfrm>
        </p:spPr>
        <p:txBody>
          <a:bodyPr>
            <a:noAutofit/>
          </a:bodyPr>
          <a:lstStyle/>
          <a:p>
            <a:pPr algn="ctr"/>
            <a:r>
              <a:rPr lang="es-ES" sz="3200" b="1" dirty="0"/>
              <a:t>2.2. Relevancia de la Actitud (Festinger, 1957)</a:t>
            </a:r>
            <a:endParaRPr lang="en-US" sz="3200" dirty="0"/>
          </a:p>
        </p:txBody>
      </p:sp>
      <p:sp>
        <p:nvSpPr>
          <p:cNvPr id="4" name="Marcador de contenido 3">
            <a:extLst>
              <a:ext uri="{FF2B5EF4-FFF2-40B4-BE49-F238E27FC236}">
                <a16:creationId xmlns:a16="http://schemas.microsoft.com/office/drawing/2014/main" id="{93ACA782-B1AF-CE1D-A2B1-6C12D3855192}"/>
              </a:ext>
            </a:extLst>
          </p:cNvPr>
          <p:cNvSpPr>
            <a:spLocks noGrp="1"/>
          </p:cNvSpPr>
          <p:nvPr>
            <p:ph sz="half" idx="1"/>
          </p:nvPr>
        </p:nvSpPr>
        <p:spPr>
          <a:xfrm>
            <a:off x="762000" y="937592"/>
            <a:ext cx="7753350" cy="4929809"/>
          </a:xfrm>
        </p:spPr>
        <p:txBody>
          <a:bodyPr>
            <a:normAutofit/>
          </a:bodyPr>
          <a:lstStyle/>
          <a:p>
            <a:pPr marL="0" indent="0">
              <a:buNone/>
            </a:pPr>
            <a:r>
              <a:rPr lang="en-GB" dirty="0" err="1"/>
              <a:t>Pregunta</a:t>
            </a:r>
            <a:r>
              <a:rPr lang="en-GB" dirty="0"/>
              <a:t> clave:</a:t>
            </a:r>
          </a:p>
          <a:p>
            <a:pPr>
              <a:buFont typeface="Arial" panose="020B0604020202020204" pitchFamily="34" charset="0"/>
              <a:buChar char="•"/>
            </a:pPr>
            <a:r>
              <a:rPr lang="en-GB" dirty="0"/>
              <a:t>¿Esta </a:t>
            </a:r>
            <a:r>
              <a:rPr lang="en-GB" dirty="0" err="1"/>
              <a:t>creencia</a:t>
            </a:r>
            <a:r>
              <a:rPr lang="en-GB" dirty="0"/>
              <a:t> es </a:t>
            </a:r>
            <a:r>
              <a:rPr lang="en-GB" dirty="0" err="1"/>
              <a:t>importante</a:t>
            </a:r>
            <a:r>
              <a:rPr lang="en-GB" dirty="0"/>
              <a:t> para </a:t>
            </a:r>
            <a:r>
              <a:rPr lang="en-GB" dirty="0" err="1"/>
              <a:t>mí</a:t>
            </a:r>
            <a:r>
              <a:rPr lang="en-GB" dirty="0"/>
              <a:t> o no tanto?</a:t>
            </a:r>
          </a:p>
          <a:p>
            <a:pPr>
              <a:buFont typeface="Arial" panose="020B0604020202020204" pitchFamily="34" charset="0"/>
              <a:buChar char="•"/>
            </a:pPr>
            <a:endParaRPr lang="en-GB" dirty="0"/>
          </a:p>
          <a:p>
            <a:pPr>
              <a:buFont typeface="Arial" panose="020B0604020202020204" pitchFamily="34" charset="0"/>
              <a:buChar char="•"/>
            </a:pPr>
            <a:r>
              <a:rPr lang="en-GB" dirty="0"/>
              <a:t>“La magnitude de la </a:t>
            </a:r>
            <a:r>
              <a:rPr lang="en-GB" dirty="0" err="1"/>
              <a:t>disonancia</a:t>
            </a:r>
            <a:r>
              <a:rPr lang="en-GB" dirty="0"/>
              <a:t> </a:t>
            </a:r>
            <a:r>
              <a:rPr lang="en-GB" dirty="0" err="1"/>
              <a:t>depende</a:t>
            </a:r>
            <a:r>
              <a:rPr lang="en-GB" dirty="0"/>
              <a:t> de la </a:t>
            </a:r>
            <a:r>
              <a:rPr lang="en-GB" dirty="0" err="1"/>
              <a:t>importancia</a:t>
            </a:r>
            <a:r>
              <a:rPr lang="en-GB" dirty="0"/>
              <a:t> de </a:t>
            </a:r>
            <a:r>
              <a:rPr lang="en-GB" dirty="0" err="1"/>
              <a:t>los</a:t>
            </a:r>
            <a:r>
              <a:rPr lang="en-GB" dirty="0"/>
              <a:t> </a:t>
            </a:r>
            <a:r>
              <a:rPr lang="en-GB" dirty="0" err="1"/>
              <a:t>elementos</a:t>
            </a:r>
            <a:r>
              <a:rPr lang="en-GB" dirty="0"/>
              <a:t> </a:t>
            </a:r>
            <a:r>
              <a:rPr lang="en-GB" dirty="0" err="1"/>
              <a:t>cognitivos</a:t>
            </a:r>
            <a:r>
              <a:rPr lang="en-GB" dirty="0"/>
              <a:t>” (Festinger, 1957, p. 15)</a:t>
            </a:r>
          </a:p>
          <a:p>
            <a:pPr marL="0" indent="0">
              <a:buNone/>
            </a:pPr>
            <a:endParaRPr lang="en-GB" dirty="0"/>
          </a:p>
          <a:p>
            <a:endParaRPr lang="en-GB" dirty="0"/>
          </a:p>
        </p:txBody>
      </p:sp>
      <p:graphicFrame>
        <p:nvGraphicFramePr>
          <p:cNvPr id="7" name="Tabla 6">
            <a:extLst>
              <a:ext uri="{FF2B5EF4-FFF2-40B4-BE49-F238E27FC236}">
                <a16:creationId xmlns:a16="http://schemas.microsoft.com/office/drawing/2014/main" id="{A1A27A8F-6AB3-BF0E-FCD8-94E7FED2DD1C}"/>
              </a:ext>
            </a:extLst>
          </p:cNvPr>
          <p:cNvGraphicFramePr>
            <a:graphicFrameLocks noGrp="1"/>
          </p:cNvGraphicFramePr>
          <p:nvPr>
            <p:extLst>
              <p:ext uri="{D42A27DB-BD31-4B8C-83A1-F6EECF244321}">
                <p14:modId xmlns:p14="http://schemas.microsoft.com/office/powerpoint/2010/main" val="3151541212"/>
              </p:ext>
            </p:extLst>
          </p:nvPr>
        </p:nvGraphicFramePr>
        <p:xfrm>
          <a:off x="762000" y="3276600"/>
          <a:ext cx="7620000" cy="2133600"/>
        </p:xfrm>
        <a:graphic>
          <a:graphicData uri="http://schemas.openxmlformats.org/drawingml/2006/table">
            <a:tbl>
              <a:tblPr/>
              <a:tblGrid>
                <a:gridCol w="3810000">
                  <a:extLst>
                    <a:ext uri="{9D8B030D-6E8A-4147-A177-3AD203B41FA5}">
                      <a16:colId xmlns:a16="http://schemas.microsoft.com/office/drawing/2014/main" val="2124996123"/>
                    </a:ext>
                  </a:extLst>
                </a:gridCol>
                <a:gridCol w="3810000">
                  <a:extLst>
                    <a:ext uri="{9D8B030D-6E8A-4147-A177-3AD203B41FA5}">
                      <a16:colId xmlns:a16="http://schemas.microsoft.com/office/drawing/2014/main" val="1094144277"/>
                    </a:ext>
                  </a:extLst>
                </a:gridCol>
              </a:tblGrid>
              <a:tr h="533400">
                <a:tc>
                  <a:txBody>
                    <a:bodyPr/>
                    <a:lstStyle/>
                    <a:p>
                      <a:r>
                        <a:rPr lang="es-ES" sz="2000" b="1"/>
                        <a:t>Tipo de actitud</a:t>
                      </a:r>
                    </a:p>
                  </a:txBody>
                  <a:tcPr anchor="ctr">
                    <a:lnL>
                      <a:noFill/>
                    </a:lnL>
                    <a:lnR>
                      <a:noFill/>
                    </a:lnR>
                    <a:lnT>
                      <a:noFill/>
                    </a:lnT>
                    <a:lnB>
                      <a:noFill/>
                    </a:lnB>
                    <a:noFill/>
                  </a:tcPr>
                </a:tc>
                <a:tc>
                  <a:txBody>
                    <a:bodyPr/>
                    <a:lstStyle/>
                    <a:p>
                      <a:r>
                        <a:rPr lang="es-ES" sz="2000" b="1" dirty="0"/>
                        <a:t>Probabilidad de disonancia</a:t>
                      </a:r>
                    </a:p>
                  </a:txBody>
                  <a:tcPr anchor="ctr">
                    <a:lnL>
                      <a:noFill/>
                    </a:lnL>
                    <a:lnR>
                      <a:noFill/>
                    </a:lnR>
                    <a:lnT>
                      <a:noFill/>
                    </a:lnT>
                    <a:lnB>
                      <a:noFill/>
                    </a:lnB>
                    <a:noFill/>
                  </a:tcPr>
                </a:tc>
                <a:extLst>
                  <a:ext uri="{0D108BD9-81ED-4DB2-BD59-A6C34878D82A}">
                    <a16:rowId xmlns:a16="http://schemas.microsoft.com/office/drawing/2014/main" val="109766036"/>
                  </a:ext>
                </a:extLst>
              </a:tr>
              <a:tr h="533400">
                <a:tc>
                  <a:txBody>
                    <a:bodyPr/>
                    <a:lstStyle/>
                    <a:p>
                      <a:r>
                        <a:rPr lang="es-ES" sz="2000" dirty="0"/>
                        <a:t>Poco relevante</a:t>
                      </a:r>
                    </a:p>
                  </a:txBody>
                  <a:tcPr anchor="ctr">
                    <a:lnL>
                      <a:noFill/>
                    </a:lnL>
                    <a:lnR>
                      <a:noFill/>
                    </a:lnR>
                    <a:lnT>
                      <a:noFill/>
                    </a:lnT>
                    <a:lnB>
                      <a:noFill/>
                    </a:lnB>
                    <a:noFill/>
                  </a:tcPr>
                </a:tc>
                <a:tc>
                  <a:txBody>
                    <a:bodyPr/>
                    <a:lstStyle/>
                    <a:p>
                      <a:r>
                        <a:rPr lang="es-ES" sz="2000"/>
                        <a:t>Baja</a:t>
                      </a:r>
                    </a:p>
                  </a:txBody>
                  <a:tcPr anchor="ctr">
                    <a:lnL>
                      <a:noFill/>
                    </a:lnL>
                    <a:lnR>
                      <a:noFill/>
                    </a:lnR>
                    <a:lnT>
                      <a:noFill/>
                    </a:lnT>
                    <a:lnB>
                      <a:noFill/>
                    </a:lnB>
                    <a:noFill/>
                  </a:tcPr>
                </a:tc>
                <a:extLst>
                  <a:ext uri="{0D108BD9-81ED-4DB2-BD59-A6C34878D82A}">
                    <a16:rowId xmlns:a16="http://schemas.microsoft.com/office/drawing/2014/main" val="2574069236"/>
                  </a:ext>
                </a:extLst>
              </a:tr>
              <a:tr h="533400">
                <a:tc>
                  <a:txBody>
                    <a:bodyPr/>
                    <a:lstStyle/>
                    <a:p>
                      <a:r>
                        <a:rPr lang="es-ES" sz="2000"/>
                        <a:t>Moderadamente relevante</a:t>
                      </a:r>
                    </a:p>
                  </a:txBody>
                  <a:tcPr anchor="ctr">
                    <a:lnL>
                      <a:noFill/>
                    </a:lnL>
                    <a:lnR>
                      <a:noFill/>
                    </a:lnR>
                    <a:lnT>
                      <a:noFill/>
                    </a:lnT>
                    <a:lnB>
                      <a:noFill/>
                    </a:lnB>
                    <a:noFill/>
                  </a:tcPr>
                </a:tc>
                <a:tc>
                  <a:txBody>
                    <a:bodyPr/>
                    <a:lstStyle/>
                    <a:p>
                      <a:r>
                        <a:rPr lang="es-ES" sz="2000"/>
                        <a:t>Media</a:t>
                      </a:r>
                    </a:p>
                  </a:txBody>
                  <a:tcPr anchor="ctr">
                    <a:lnL>
                      <a:noFill/>
                    </a:lnL>
                    <a:lnR>
                      <a:noFill/>
                    </a:lnR>
                    <a:lnT>
                      <a:noFill/>
                    </a:lnT>
                    <a:lnB>
                      <a:noFill/>
                    </a:lnB>
                    <a:noFill/>
                  </a:tcPr>
                </a:tc>
                <a:extLst>
                  <a:ext uri="{0D108BD9-81ED-4DB2-BD59-A6C34878D82A}">
                    <a16:rowId xmlns:a16="http://schemas.microsoft.com/office/drawing/2014/main" val="1464497020"/>
                  </a:ext>
                </a:extLst>
              </a:tr>
              <a:tr h="533400">
                <a:tc>
                  <a:txBody>
                    <a:bodyPr/>
                    <a:lstStyle/>
                    <a:p>
                      <a:r>
                        <a:rPr lang="es-ES" sz="2000"/>
                        <a:t>Central para la identidad</a:t>
                      </a:r>
                    </a:p>
                  </a:txBody>
                  <a:tcPr anchor="ctr">
                    <a:lnL>
                      <a:noFill/>
                    </a:lnL>
                    <a:lnR>
                      <a:noFill/>
                    </a:lnR>
                    <a:lnT>
                      <a:noFill/>
                    </a:lnT>
                    <a:lnB>
                      <a:noFill/>
                    </a:lnB>
                    <a:noFill/>
                  </a:tcPr>
                </a:tc>
                <a:tc>
                  <a:txBody>
                    <a:bodyPr/>
                    <a:lstStyle/>
                    <a:p>
                      <a:r>
                        <a:rPr lang="es-ES" sz="2000" dirty="0"/>
                        <a:t>Alta</a:t>
                      </a:r>
                    </a:p>
                  </a:txBody>
                  <a:tcPr anchor="ctr">
                    <a:lnL>
                      <a:noFill/>
                    </a:lnL>
                    <a:lnR>
                      <a:noFill/>
                    </a:lnR>
                    <a:lnT>
                      <a:noFill/>
                    </a:lnT>
                    <a:lnB>
                      <a:noFill/>
                    </a:lnB>
                    <a:noFill/>
                  </a:tcPr>
                </a:tc>
                <a:extLst>
                  <a:ext uri="{0D108BD9-81ED-4DB2-BD59-A6C34878D82A}">
                    <a16:rowId xmlns:a16="http://schemas.microsoft.com/office/drawing/2014/main" val="305537233"/>
                  </a:ext>
                </a:extLst>
              </a:tr>
            </a:tbl>
          </a:graphicData>
        </a:graphic>
      </p:graphicFrame>
    </p:spTree>
    <p:extLst>
      <p:ext uri="{BB962C8B-B14F-4D97-AF65-F5344CB8AC3E}">
        <p14:creationId xmlns:p14="http://schemas.microsoft.com/office/powerpoint/2010/main" val="35287476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ABB49-9DDA-ED29-F62E-5261B298D5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E608DA-09E9-F30F-A0F2-B84A56E5AFCA}"/>
              </a:ext>
            </a:extLst>
          </p:cNvPr>
          <p:cNvSpPr>
            <a:spLocks noGrp="1"/>
          </p:cNvSpPr>
          <p:nvPr>
            <p:ph type="title"/>
          </p:nvPr>
        </p:nvSpPr>
        <p:spPr>
          <a:xfrm>
            <a:off x="628649" y="76200"/>
            <a:ext cx="7886700" cy="785192"/>
          </a:xfrm>
        </p:spPr>
        <p:txBody>
          <a:bodyPr>
            <a:noAutofit/>
          </a:bodyPr>
          <a:lstStyle/>
          <a:p>
            <a:pPr algn="ctr"/>
            <a:r>
              <a:rPr lang="es-ES" sz="3200" b="1" dirty="0"/>
              <a:t>2.3. Relación con el Yo</a:t>
            </a:r>
            <a:endParaRPr lang="en-US" sz="3200" dirty="0"/>
          </a:p>
        </p:txBody>
      </p:sp>
      <p:graphicFrame>
        <p:nvGraphicFramePr>
          <p:cNvPr id="8" name="Table 8">
            <a:extLst>
              <a:ext uri="{FF2B5EF4-FFF2-40B4-BE49-F238E27FC236}">
                <a16:creationId xmlns:a16="http://schemas.microsoft.com/office/drawing/2014/main" id="{57F8F034-7E40-E3D0-81C9-B77BDE0A5ABC}"/>
              </a:ext>
            </a:extLst>
          </p:cNvPr>
          <p:cNvGraphicFramePr>
            <a:graphicFrameLocks noGrp="1"/>
          </p:cNvGraphicFramePr>
          <p:nvPr>
            <p:ph sz="half" idx="1"/>
            <p:extLst>
              <p:ext uri="{D42A27DB-BD31-4B8C-83A1-F6EECF244321}">
                <p14:modId xmlns:p14="http://schemas.microsoft.com/office/powerpoint/2010/main" val="2208083404"/>
              </p:ext>
            </p:extLst>
          </p:nvPr>
        </p:nvGraphicFramePr>
        <p:xfrm>
          <a:off x="-1" y="1143000"/>
          <a:ext cx="9144001" cy="4777740"/>
        </p:xfrm>
        <a:graphic>
          <a:graphicData uri="http://schemas.openxmlformats.org/drawingml/2006/table">
            <a:tbl>
              <a:tblPr firstRow="1" bandRow="1">
                <a:tableStyleId>{5C22544A-7EE6-4342-B048-85BDC9FD1C3A}</a:tableStyleId>
              </a:tblPr>
              <a:tblGrid>
                <a:gridCol w="1447801">
                  <a:extLst>
                    <a:ext uri="{9D8B030D-6E8A-4147-A177-3AD203B41FA5}">
                      <a16:colId xmlns:a16="http://schemas.microsoft.com/office/drawing/2014/main" val="600100855"/>
                    </a:ext>
                  </a:extLst>
                </a:gridCol>
                <a:gridCol w="1371600">
                  <a:extLst>
                    <a:ext uri="{9D8B030D-6E8A-4147-A177-3AD203B41FA5}">
                      <a16:colId xmlns:a16="http://schemas.microsoft.com/office/drawing/2014/main" val="1579691166"/>
                    </a:ext>
                  </a:extLst>
                </a:gridCol>
                <a:gridCol w="1600200">
                  <a:extLst>
                    <a:ext uri="{9D8B030D-6E8A-4147-A177-3AD203B41FA5}">
                      <a16:colId xmlns:a16="http://schemas.microsoft.com/office/drawing/2014/main" val="2054483465"/>
                    </a:ext>
                  </a:extLst>
                </a:gridCol>
                <a:gridCol w="1600200">
                  <a:extLst>
                    <a:ext uri="{9D8B030D-6E8A-4147-A177-3AD203B41FA5}">
                      <a16:colId xmlns:a16="http://schemas.microsoft.com/office/drawing/2014/main" val="1464844665"/>
                    </a:ext>
                  </a:extLst>
                </a:gridCol>
                <a:gridCol w="1354394">
                  <a:extLst>
                    <a:ext uri="{9D8B030D-6E8A-4147-A177-3AD203B41FA5}">
                      <a16:colId xmlns:a16="http://schemas.microsoft.com/office/drawing/2014/main" val="794930812"/>
                    </a:ext>
                  </a:extLst>
                </a:gridCol>
                <a:gridCol w="1769806">
                  <a:extLst>
                    <a:ext uri="{9D8B030D-6E8A-4147-A177-3AD203B41FA5}">
                      <a16:colId xmlns:a16="http://schemas.microsoft.com/office/drawing/2014/main" val="3879557640"/>
                    </a:ext>
                  </a:extLst>
                </a:gridCol>
              </a:tblGrid>
              <a:tr h="533872">
                <a:tc>
                  <a:txBody>
                    <a:bodyPr/>
                    <a:lstStyle/>
                    <a:p>
                      <a:endParaRPr lang="en-US" sz="2000" dirty="0"/>
                    </a:p>
                  </a:txBody>
                  <a:tcPr marL="68580" marR="68580" marT="34290" marB="34290"/>
                </a:tc>
                <a:tc>
                  <a:txBody>
                    <a:bodyPr/>
                    <a:lstStyle/>
                    <a:p>
                      <a:r>
                        <a:rPr lang="es" sz="2000" dirty="0"/>
                        <a:t>Noción 1</a:t>
                      </a:r>
                      <a:endParaRPr lang="en-US" sz="2000" dirty="0"/>
                    </a:p>
                  </a:txBody>
                  <a:tcPr marL="68580" marR="68580" marT="34290" marB="34290"/>
                </a:tc>
                <a:tc>
                  <a:txBody>
                    <a:bodyPr/>
                    <a:lstStyle/>
                    <a:p>
                      <a:r>
                        <a:rPr lang="es" sz="2000" dirty="0"/>
                        <a:t>Noción 2</a:t>
                      </a:r>
                      <a:endParaRPr lang="en-US" sz="2000" dirty="0"/>
                    </a:p>
                  </a:txBody>
                  <a:tcPr marL="68580" marR="68580" marT="34290" marB="34290"/>
                </a:tc>
                <a:tc>
                  <a:txBody>
                    <a:bodyPr/>
                    <a:lstStyle/>
                    <a:p>
                      <a:r>
                        <a:rPr lang="es" sz="2000" dirty="0"/>
                        <a:t>Inconsistencia</a:t>
                      </a:r>
                      <a:endParaRPr lang="en-US" sz="2000" dirty="0"/>
                    </a:p>
                  </a:txBody>
                  <a:tcPr marL="68580" marR="68580" marT="34290" marB="34290"/>
                </a:tc>
                <a:tc>
                  <a:txBody>
                    <a:bodyPr/>
                    <a:lstStyle/>
                    <a:p>
                      <a:r>
                        <a:rPr lang="en-US" sz="2000" dirty="0" err="1"/>
                        <a:t>Emoción</a:t>
                      </a:r>
                      <a:r>
                        <a:rPr lang="en-US" sz="2000" dirty="0"/>
                        <a:t> </a:t>
                      </a:r>
                      <a:r>
                        <a:rPr lang="en-US" sz="2000" dirty="0" err="1"/>
                        <a:t>Resultante</a:t>
                      </a:r>
                      <a:endParaRPr lang="en-US" sz="2000" dirty="0"/>
                    </a:p>
                  </a:txBody>
                  <a:tcPr marL="68580" marR="68580" marT="34290" marB="34290"/>
                </a:tc>
                <a:tc>
                  <a:txBody>
                    <a:bodyPr/>
                    <a:lstStyle/>
                    <a:p>
                      <a:r>
                        <a:rPr lang="es" sz="2000" dirty="0"/>
                        <a:t>¿Cómo puedes reducir las molestias?</a:t>
                      </a:r>
                      <a:endParaRPr lang="en-US" sz="2000" dirty="0"/>
                    </a:p>
                  </a:txBody>
                  <a:tcPr marL="68580" marR="68580" marT="34290" marB="34290"/>
                </a:tc>
                <a:extLst>
                  <a:ext uri="{0D108BD9-81ED-4DB2-BD59-A6C34878D82A}">
                    <a16:rowId xmlns:a16="http://schemas.microsoft.com/office/drawing/2014/main" val="2713412133"/>
                  </a:ext>
                </a:extLst>
              </a:tr>
              <a:tr h="642494">
                <a:tc>
                  <a:txBody>
                    <a:bodyPr/>
                    <a:lstStyle/>
                    <a:p>
                      <a:r>
                        <a:rPr lang="es" sz="2000" b="1" dirty="0"/>
                        <a:t>Autorrelacionado (reversible)</a:t>
                      </a:r>
                      <a:endParaRPr lang="en-US" sz="2000" b="1" dirty="0"/>
                    </a:p>
                  </a:txBody>
                  <a:tcPr marL="68580" marR="68580" marT="34290" marB="34290"/>
                </a:tc>
                <a:tc>
                  <a:txBody>
                    <a:bodyPr/>
                    <a:lstStyle/>
                    <a:p>
                      <a:r>
                        <a:rPr lang="es" sz="2000" dirty="0"/>
                        <a:t>Te consideras inteligente</a:t>
                      </a:r>
                      <a:endParaRPr lang="en-US" sz="2000" dirty="0"/>
                    </a:p>
                  </a:txBody>
                  <a:tcPr marL="68580" marR="68580" marT="34290" marB="34290"/>
                </a:tc>
                <a:tc>
                  <a:txBody>
                    <a:bodyPr/>
                    <a:lstStyle/>
                    <a:p>
                      <a:r>
                        <a:rPr lang="es" sz="2000" dirty="0"/>
                        <a:t>Cometiste un gran error en el trabajo, que va a costar dinero</a:t>
                      </a:r>
                      <a:endParaRPr lang="en-US" sz="2000" dirty="0"/>
                    </a:p>
                  </a:txBody>
                  <a:tcPr marL="68580" marR="68580" marT="34290" marB="34290"/>
                </a:tc>
                <a:tc>
                  <a:txBody>
                    <a:bodyPr/>
                    <a:lstStyle/>
                    <a:p>
                      <a:r>
                        <a:rPr lang="es" sz="2000" dirty="0">
                          <a:solidFill>
                            <a:srgbClr val="C00000"/>
                          </a:solidFill>
                        </a:rPr>
                        <a:t>La gente inteligente no comete grandes errores</a:t>
                      </a:r>
                      <a:endParaRPr lang="en-US" sz="2000" dirty="0">
                        <a:solidFill>
                          <a:srgbClr val="C00000"/>
                        </a:solidFill>
                      </a:endParaRPr>
                    </a:p>
                  </a:txBody>
                  <a:tcPr marL="68580" marR="68580" marT="34290" marB="34290"/>
                </a:tc>
                <a:tc>
                  <a:txBody>
                    <a:bodyPr/>
                    <a:lstStyle/>
                    <a:p>
                      <a:r>
                        <a:rPr lang="en-US" sz="2000" dirty="0" err="1">
                          <a:solidFill>
                            <a:srgbClr val="C00000"/>
                          </a:solidFill>
                        </a:rPr>
                        <a:t>Vergüenza</a:t>
                      </a:r>
                      <a:endParaRPr lang="en-US" sz="2000" dirty="0">
                        <a:solidFill>
                          <a:srgbClr val="C00000"/>
                        </a:solidFill>
                      </a:endParaRPr>
                    </a:p>
                  </a:txBody>
                  <a:tcPr marL="68580" marR="68580" marT="34290" marB="34290"/>
                </a:tc>
                <a:tc>
                  <a:txBody>
                    <a:bodyPr/>
                    <a:lstStyle/>
                    <a:p>
                      <a:r>
                        <a:rPr lang="es" sz="2000" dirty="0">
                          <a:solidFill>
                            <a:srgbClr val="C00000"/>
                          </a:solidFill>
                        </a:rPr>
                        <a:t>Piensas "no fue mi culpa" o ”el error no fue para tanto"</a:t>
                      </a:r>
                      <a:endParaRPr lang="en-US" sz="2000" dirty="0">
                        <a:solidFill>
                          <a:srgbClr val="C00000"/>
                        </a:solidFill>
                      </a:endParaRPr>
                    </a:p>
                  </a:txBody>
                  <a:tcPr marL="68580" marR="68580" marT="34290" marB="34290"/>
                </a:tc>
                <a:extLst>
                  <a:ext uri="{0D108BD9-81ED-4DB2-BD59-A6C34878D82A}">
                    <a16:rowId xmlns:a16="http://schemas.microsoft.com/office/drawing/2014/main" val="2233973054"/>
                  </a:ext>
                </a:extLst>
              </a:tr>
              <a:tr h="642494">
                <a:tc>
                  <a:txBody>
                    <a:bodyPr/>
                    <a:lstStyle/>
                    <a:p>
                      <a:r>
                        <a:rPr lang="es" sz="2000" b="1" dirty="0"/>
                        <a:t>Autorrelacionado (irreversible)</a:t>
                      </a:r>
                      <a:endParaRPr lang="en-US" sz="2000" b="1" dirty="0"/>
                    </a:p>
                  </a:txBody>
                  <a:tcPr marL="68580" marR="68580" marT="34290" marB="34290"/>
                </a:tc>
                <a:tc>
                  <a:txBody>
                    <a:bodyPr/>
                    <a:lstStyle/>
                    <a:p>
                      <a:r>
                        <a:rPr lang="es" sz="2000" dirty="0"/>
                        <a:t>Te consideras una persona honesta</a:t>
                      </a:r>
                      <a:endParaRPr lang="en-US" sz="2000" dirty="0"/>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 sz="2000" dirty="0"/>
                        <a:t>Engañaste a tu mejor amigo</a:t>
                      </a:r>
                      <a:endParaRPr lang="en-US" sz="2000" dirty="0"/>
                    </a:p>
                  </a:txBody>
                  <a:tcPr marL="68580" marR="68580" marT="34290" marB="34290"/>
                </a:tc>
                <a:tc>
                  <a:txBody>
                    <a:bodyPr/>
                    <a:lstStyle/>
                    <a:p>
                      <a:r>
                        <a:rPr lang="es" sz="2000" dirty="0">
                          <a:solidFill>
                            <a:srgbClr val="C00000"/>
                          </a:solidFill>
                        </a:rPr>
                        <a:t>La gente honesta no engaña</a:t>
                      </a:r>
                      <a:endParaRPr lang="en-US" sz="2000" dirty="0">
                        <a:solidFill>
                          <a:srgbClr val="C00000"/>
                        </a:solidFill>
                      </a:endParaRPr>
                    </a:p>
                  </a:txBody>
                  <a:tcPr marL="68580" marR="68580" marT="34290" marB="34290"/>
                </a:tc>
                <a:tc>
                  <a:txBody>
                    <a:bodyPr/>
                    <a:lstStyle/>
                    <a:p>
                      <a:r>
                        <a:rPr lang="en-US" sz="2000" dirty="0">
                          <a:solidFill>
                            <a:srgbClr val="C00000"/>
                          </a:solidFill>
                        </a:rPr>
                        <a:t>Culpa</a:t>
                      </a:r>
                    </a:p>
                  </a:txBody>
                  <a:tcPr marL="68580" marR="68580" marT="34290" marB="34290"/>
                </a:tc>
                <a:tc>
                  <a:txBody>
                    <a:bodyPr/>
                    <a:lstStyle/>
                    <a:p>
                      <a:r>
                        <a:rPr lang="es" sz="2000" dirty="0">
                          <a:solidFill>
                            <a:srgbClr val="C00000"/>
                          </a:solidFill>
                        </a:rPr>
                        <a:t>Admites que mentiste y te disculpas, o piensas: "Solo fue una mentira poco importante".</a:t>
                      </a:r>
                      <a:endParaRPr lang="en-US" sz="2000" dirty="0">
                        <a:solidFill>
                          <a:srgbClr val="C00000"/>
                        </a:solidFill>
                      </a:endParaRPr>
                    </a:p>
                  </a:txBody>
                  <a:tcPr marL="68580" marR="68580" marT="34290" marB="34290"/>
                </a:tc>
                <a:extLst>
                  <a:ext uri="{0D108BD9-81ED-4DB2-BD59-A6C34878D82A}">
                    <a16:rowId xmlns:a16="http://schemas.microsoft.com/office/drawing/2014/main" val="4261854229"/>
                  </a:ext>
                </a:extLst>
              </a:tr>
            </a:tbl>
          </a:graphicData>
        </a:graphic>
      </p:graphicFrame>
    </p:spTree>
    <p:extLst>
      <p:ext uri="{BB962C8B-B14F-4D97-AF65-F5344CB8AC3E}">
        <p14:creationId xmlns:p14="http://schemas.microsoft.com/office/powerpoint/2010/main" val="841209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6A40B-C895-5E1B-9E1B-82DD3C235D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79D9B8-27BC-A8F6-924B-49A81F1DA736}"/>
              </a:ext>
            </a:extLst>
          </p:cNvPr>
          <p:cNvSpPr>
            <a:spLocks noGrp="1"/>
          </p:cNvSpPr>
          <p:nvPr>
            <p:ph type="title"/>
          </p:nvPr>
        </p:nvSpPr>
        <p:spPr>
          <a:xfrm>
            <a:off x="665483" y="152400"/>
            <a:ext cx="7886700" cy="785192"/>
          </a:xfrm>
        </p:spPr>
        <p:txBody>
          <a:bodyPr>
            <a:noAutofit/>
          </a:bodyPr>
          <a:lstStyle/>
          <a:p>
            <a:pPr algn="ctr"/>
            <a:r>
              <a:rPr lang="es-ES" sz="3200" b="1" dirty="0"/>
              <a:t>2.3. Relación con el Yo</a:t>
            </a:r>
            <a:endParaRPr lang="en-US" sz="3200" dirty="0"/>
          </a:p>
        </p:txBody>
      </p:sp>
      <p:sp>
        <p:nvSpPr>
          <p:cNvPr id="4" name="Marcador de contenido 3">
            <a:extLst>
              <a:ext uri="{FF2B5EF4-FFF2-40B4-BE49-F238E27FC236}">
                <a16:creationId xmlns:a16="http://schemas.microsoft.com/office/drawing/2014/main" id="{5D98EC70-88E7-81C5-C65A-8C679AA90DDD}"/>
              </a:ext>
            </a:extLst>
          </p:cNvPr>
          <p:cNvSpPr>
            <a:spLocks noGrp="1"/>
          </p:cNvSpPr>
          <p:nvPr>
            <p:ph sz="half" idx="1"/>
          </p:nvPr>
        </p:nvSpPr>
        <p:spPr>
          <a:xfrm>
            <a:off x="638589" y="1371600"/>
            <a:ext cx="8286750" cy="5105400"/>
          </a:xfrm>
        </p:spPr>
        <p:txBody>
          <a:bodyPr>
            <a:normAutofit/>
          </a:bodyPr>
          <a:lstStyle/>
          <a:p>
            <a:pPr marL="0" indent="0">
              <a:buNone/>
            </a:pPr>
            <a:r>
              <a:rPr lang="en-GB" dirty="0" err="1"/>
              <a:t>Pregunta</a:t>
            </a:r>
            <a:r>
              <a:rPr lang="en-GB" dirty="0"/>
              <a:t> clave:</a:t>
            </a:r>
          </a:p>
          <a:p>
            <a:pPr marL="0" indent="0">
              <a:buNone/>
            </a:pPr>
            <a:r>
              <a:rPr lang="en-GB" dirty="0"/>
              <a:t>¿Este </a:t>
            </a:r>
            <a:r>
              <a:rPr lang="en-GB" dirty="0" err="1"/>
              <a:t>conflicto</a:t>
            </a:r>
            <a:r>
              <a:rPr lang="en-GB" dirty="0"/>
              <a:t> </a:t>
            </a:r>
            <a:r>
              <a:rPr lang="en-GB" dirty="0" err="1"/>
              <a:t>toca</a:t>
            </a:r>
            <a:r>
              <a:rPr lang="en-GB" dirty="0"/>
              <a:t> mi </a:t>
            </a:r>
            <a:r>
              <a:rPr lang="en-GB" dirty="0" err="1"/>
              <a:t>autoconcepto</a:t>
            </a:r>
            <a:r>
              <a:rPr lang="en-GB" dirty="0"/>
              <a:t>? ¿Me </a:t>
            </a:r>
            <a:r>
              <a:rPr lang="en-GB" dirty="0" err="1"/>
              <a:t>hace</a:t>
            </a:r>
            <a:r>
              <a:rPr lang="en-GB" dirty="0"/>
              <a:t> </a:t>
            </a:r>
            <a:r>
              <a:rPr lang="en-GB" dirty="0" err="1"/>
              <a:t>dudar</a:t>
            </a:r>
            <a:r>
              <a:rPr lang="en-GB" dirty="0"/>
              <a:t> de </a:t>
            </a:r>
            <a:r>
              <a:rPr lang="en-GB" dirty="0" err="1"/>
              <a:t>quién</a:t>
            </a:r>
            <a:r>
              <a:rPr lang="en-GB" dirty="0"/>
              <a:t> soy (</a:t>
            </a:r>
            <a:r>
              <a:rPr lang="en-GB" dirty="0" err="1"/>
              <a:t>buena</a:t>
            </a:r>
            <a:r>
              <a:rPr lang="en-GB" dirty="0"/>
              <a:t> persona / </a:t>
            </a:r>
            <a:r>
              <a:rPr lang="en-GB" dirty="0" err="1"/>
              <a:t>trabajador</a:t>
            </a:r>
            <a:r>
              <a:rPr lang="en-GB" dirty="0"/>
              <a:t> / </a:t>
            </a:r>
            <a:r>
              <a:rPr lang="en-GB" dirty="0" err="1"/>
              <a:t>inteligente</a:t>
            </a:r>
            <a:r>
              <a:rPr lang="en-GB" dirty="0"/>
              <a:t> / moral…)?</a:t>
            </a:r>
          </a:p>
          <a:p>
            <a:pPr marL="0" indent="0">
              <a:buNone/>
            </a:pPr>
            <a:endParaRPr lang="en-GB" dirty="0"/>
          </a:p>
          <a:p>
            <a:pPr>
              <a:buFont typeface="Arial" panose="020B0604020202020204" pitchFamily="34" charset="0"/>
              <a:buChar char="•"/>
            </a:pPr>
            <a:r>
              <a:rPr lang="en-GB" dirty="0"/>
              <a:t>Cooper &amp; Fazio (1984): la </a:t>
            </a:r>
            <a:r>
              <a:rPr lang="en-GB" dirty="0" err="1"/>
              <a:t>disonancia</a:t>
            </a:r>
            <a:r>
              <a:rPr lang="en-GB" dirty="0"/>
              <a:t> solo surge </a:t>
            </a:r>
            <a:r>
              <a:rPr lang="en-GB" dirty="0" err="1"/>
              <a:t>si</a:t>
            </a:r>
            <a:r>
              <a:rPr lang="en-GB" dirty="0"/>
              <a:t> </a:t>
            </a:r>
            <a:r>
              <a:rPr lang="en-GB" dirty="0" err="1"/>
              <a:t>el</a:t>
            </a:r>
            <a:r>
              <a:rPr lang="en-GB" dirty="0"/>
              <a:t> </a:t>
            </a:r>
            <a:r>
              <a:rPr lang="en-GB" dirty="0" err="1"/>
              <a:t>individuo</a:t>
            </a:r>
            <a:r>
              <a:rPr lang="en-GB" dirty="0"/>
              <a:t> se </a:t>
            </a:r>
            <a:r>
              <a:rPr lang="en-GB" dirty="0" err="1"/>
              <a:t>siente</a:t>
            </a:r>
            <a:r>
              <a:rPr lang="en-GB" dirty="0"/>
              <a:t> </a:t>
            </a:r>
            <a:r>
              <a:rPr lang="en-GB" dirty="0" err="1"/>
              <a:t>responsable</a:t>
            </a:r>
            <a:r>
              <a:rPr lang="en-GB" dirty="0"/>
              <a:t> de la </a:t>
            </a:r>
            <a:r>
              <a:rPr lang="en-GB" dirty="0" err="1"/>
              <a:t>conducta</a:t>
            </a:r>
            <a:r>
              <a:rPr lang="en-GB" dirty="0"/>
              <a:t>.</a:t>
            </a:r>
          </a:p>
          <a:p>
            <a:pPr>
              <a:buFont typeface="Arial" panose="020B0604020202020204" pitchFamily="34" charset="0"/>
              <a:buChar char="•"/>
            </a:pPr>
            <a:r>
              <a:rPr lang="en-GB" dirty="0"/>
              <a:t>La </a:t>
            </a:r>
            <a:r>
              <a:rPr lang="en-GB" dirty="0" err="1"/>
              <a:t>disonancia</a:t>
            </a:r>
            <a:r>
              <a:rPr lang="en-GB" dirty="0"/>
              <a:t> es </a:t>
            </a:r>
            <a:r>
              <a:rPr lang="en-GB" dirty="0" err="1"/>
              <a:t>especialmente</a:t>
            </a:r>
            <a:r>
              <a:rPr lang="en-GB" dirty="0"/>
              <a:t> </a:t>
            </a:r>
            <a:r>
              <a:rPr lang="en-GB" dirty="0" err="1"/>
              <a:t>intensa</a:t>
            </a:r>
            <a:r>
              <a:rPr lang="en-GB" dirty="0"/>
              <a:t> </a:t>
            </a:r>
            <a:r>
              <a:rPr lang="en-GB" dirty="0" err="1"/>
              <a:t>cuando</a:t>
            </a:r>
            <a:r>
              <a:rPr lang="en-GB" dirty="0"/>
              <a:t> pone </a:t>
            </a:r>
            <a:r>
              <a:rPr lang="en-GB" dirty="0" err="1"/>
              <a:t>en</a:t>
            </a:r>
            <a:r>
              <a:rPr lang="en-GB" dirty="0"/>
              <a:t> </a:t>
            </a:r>
            <a:r>
              <a:rPr lang="en-GB" dirty="0" err="1"/>
              <a:t>peligro</a:t>
            </a:r>
            <a:r>
              <a:rPr lang="en-GB" dirty="0"/>
              <a:t> </a:t>
            </a:r>
            <a:r>
              <a:rPr lang="en-GB" dirty="0" err="1"/>
              <a:t>nuestra</a:t>
            </a:r>
            <a:r>
              <a:rPr lang="en-GB" dirty="0"/>
              <a:t> imagen </a:t>
            </a:r>
            <a:r>
              <a:rPr lang="en-GB" dirty="0" err="1"/>
              <a:t>propia</a:t>
            </a:r>
            <a:r>
              <a:rPr lang="en-GB" dirty="0"/>
              <a:t>. </a:t>
            </a:r>
          </a:p>
        </p:txBody>
      </p:sp>
    </p:spTree>
    <p:extLst>
      <p:ext uri="{BB962C8B-B14F-4D97-AF65-F5344CB8AC3E}">
        <p14:creationId xmlns:p14="http://schemas.microsoft.com/office/powerpoint/2010/main" val="27766951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CA30C-E638-441E-669B-9132F33F851D}"/>
            </a:ext>
          </a:extLst>
        </p:cNvPr>
        <p:cNvGrpSpPr/>
        <p:nvPr/>
      </p:nvGrpSpPr>
      <p:grpSpPr>
        <a:xfrm>
          <a:off x="0" y="0"/>
          <a:ext cx="0" cy="0"/>
          <a:chOff x="0" y="0"/>
          <a:chExt cx="0" cy="0"/>
        </a:xfrm>
      </p:grpSpPr>
      <p:sp>
        <p:nvSpPr>
          <p:cNvPr id="6146" name="AutoShape 2">
            <a:extLst>
              <a:ext uri="{FF2B5EF4-FFF2-40B4-BE49-F238E27FC236}">
                <a16:creationId xmlns:a16="http://schemas.microsoft.com/office/drawing/2014/main" id="{39765FDE-9856-8545-6186-F13BF582E498}"/>
              </a:ext>
            </a:extLst>
          </p:cNvPr>
          <p:cNvSpPr>
            <a:spLocks noGrp="1" noChangeArrowheads="1"/>
          </p:cNvSpPr>
          <p:nvPr>
            <p:ph type="title"/>
          </p:nvPr>
        </p:nvSpPr>
        <p:spPr>
          <a:xfrm>
            <a:off x="971550" y="76200"/>
            <a:ext cx="7200900" cy="762000"/>
          </a:xfrm>
        </p:spPr>
        <p:txBody>
          <a:bodyPr>
            <a:noAutofit/>
          </a:bodyPr>
          <a:lstStyle/>
          <a:p>
            <a:pPr algn="ctr"/>
            <a:r>
              <a:rPr lang="es-ES_tradnl" sz="3200" noProof="1"/>
              <a:t>3.Cómo Reducimos la Disonancia</a:t>
            </a:r>
          </a:p>
        </p:txBody>
      </p:sp>
      <p:sp>
        <p:nvSpPr>
          <p:cNvPr id="2" name="Rectangle 3">
            <a:extLst>
              <a:ext uri="{FF2B5EF4-FFF2-40B4-BE49-F238E27FC236}">
                <a16:creationId xmlns:a16="http://schemas.microsoft.com/office/drawing/2014/main" id="{BA399CFC-DABC-FE89-CFDA-E9C4F573F326}"/>
              </a:ext>
            </a:extLst>
          </p:cNvPr>
          <p:cNvSpPr txBox="1">
            <a:spLocks noChangeArrowheads="1"/>
          </p:cNvSpPr>
          <p:nvPr/>
        </p:nvSpPr>
        <p:spPr>
          <a:xfrm>
            <a:off x="685800" y="609600"/>
            <a:ext cx="8305802" cy="5410200"/>
          </a:xfrm>
          <a:prstGeom prst="rect">
            <a:avLst/>
          </a:prstGeom>
        </p:spPr>
        <p:txBody>
          <a:bodyPr vert="horz" lIns="91440" tIns="45720" rIns="91440" bIns="45720" rtlCol="0">
            <a:noAutofit/>
          </a:bodyPr>
          <a:lstStyle>
            <a:lvl1pPr marL="384048" indent="-384048" algn="l" defTabSz="6858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a:buNone/>
            </a:pPr>
            <a:endParaRPr lang="es-ES" b="1" dirty="0"/>
          </a:p>
          <a:p>
            <a:pPr algn="ctr">
              <a:buNone/>
            </a:pPr>
            <a:r>
              <a:rPr lang="es-ES" b="1" dirty="0"/>
              <a:t>Ej.: Tenía que estudiar para el examen pero salí anoche hasta tarde:</a:t>
            </a:r>
          </a:p>
          <a:p>
            <a:pPr>
              <a:buNone/>
            </a:pPr>
            <a:endParaRPr lang="es-ES" b="1" dirty="0"/>
          </a:p>
          <a:p>
            <a:pPr marL="457200" indent="-457200">
              <a:buFont typeface="+mj-lt"/>
              <a:buAutoNum type="arabicPeriod"/>
            </a:pPr>
            <a:r>
              <a:rPr lang="es-ES" b="1" dirty="0"/>
              <a:t>Añadir nuevas cogniciones consonantes con la conducta realizada</a:t>
            </a:r>
            <a:br>
              <a:rPr lang="es-ES" dirty="0"/>
            </a:br>
            <a:r>
              <a:rPr lang="es-ES" dirty="0"/>
              <a:t>→ Pensamientos nuevos que “justifiquen” lo que hemos hecho.</a:t>
            </a:r>
            <a:br>
              <a:rPr lang="es-ES" dirty="0"/>
            </a:br>
            <a:r>
              <a:rPr lang="es-ES" dirty="0"/>
              <a:t>“Hace semanas que no salía.”</a:t>
            </a:r>
            <a:br>
              <a:rPr lang="es-ES" dirty="0"/>
            </a:br>
            <a:r>
              <a:rPr lang="es-ES" dirty="0"/>
              <a:t>“Necesitaba ver a mi amigo para aclarar las cosas.”</a:t>
            </a:r>
          </a:p>
          <a:p>
            <a:pPr marL="457200" indent="-457200">
              <a:buFont typeface="+mj-lt"/>
              <a:buAutoNum type="arabicPeriod"/>
            </a:pPr>
            <a:r>
              <a:rPr lang="es-ES" b="1" dirty="0"/>
              <a:t>Aumentar la importancia de las cogniciones consonantes</a:t>
            </a:r>
            <a:br>
              <a:rPr lang="es-ES" dirty="0"/>
            </a:br>
            <a:r>
              <a:rPr lang="es-ES" dirty="0"/>
              <a:t>→ No se trata de añadir argumentos, sino de </a:t>
            </a:r>
            <a:r>
              <a:rPr lang="es-ES" b="1" dirty="0"/>
              <a:t>subirles el volumen</a:t>
            </a:r>
            <a:r>
              <a:rPr lang="es-ES" dirty="0"/>
              <a:t> mentalmente</a:t>
            </a:r>
            <a:br>
              <a:rPr lang="es-ES" dirty="0"/>
            </a:br>
            <a:r>
              <a:rPr lang="es-ES" dirty="0"/>
              <a:t>“Desconectar era más importante que estudiar una hora más”</a:t>
            </a:r>
            <a:br>
              <a:rPr lang="es-ES" dirty="0"/>
            </a:br>
            <a:r>
              <a:rPr lang="es-ES" dirty="0"/>
              <a:t>“Si no hubiera salido, no habría estudiado igual. Me habría quedado dormido”</a:t>
            </a:r>
          </a:p>
          <a:p>
            <a:pPr marL="457200" indent="-457200">
              <a:buFont typeface="+mj-lt"/>
              <a:buAutoNum type="arabicPeriod"/>
            </a:pPr>
            <a:r>
              <a:rPr lang="es-ES" b="1" dirty="0"/>
              <a:t>Quitar importancia a las cogniciones disonantes</a:t>
            </a:r>
            <a:br>
              <a:rPr lang="es-ES" dirty="0"/>
            </a:br>
            <a:r>
              <a:rPr lang="es-ES" dirty="0"/>
              <a:t>→ Minimizar lo que genera conflicto.</a:t>
            </a:r>
            <a:br>
              <a:rPr lang="es-ES" dirty="0"/>
            </a:br>
            <a:r>
              <a:rPr lang="es-ES" dirty="0"/>
              <a:t>“Tampoco he perdido tanto tiempo”</a:t>
            </a:r>
            <a:br>
              <a:rPr lang="es-ES" dirty="0"/>
            </a:br>
            <a:r>
              <a:rPr lang="es-ES" dirty="0"/>
              <a:t>“Para este examen no necesito estudiar mucho más”</a:t>
            </a:r>
          </a:p>
          <a:p>
            <a:pPr marL="530352" lvl="1" indent="0">
              <a:buNone/>
            </a:pPr>
            <a:endParaRPr lang="es-ES" i="1" dirty="0"/>
          </a:p>
        </p:txBody>
      </p:sp>
    </p:spTree>
    <p:extLst>
      <p:ext uri="{BB962C8B-B14F-4D97-AF65-F5344CB8AC3E}">
        <p14:creationId xmlns:p14="http://schemas.microsoft.com/office/powerpoint/2010/main" val="2215017103"/>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CA54B-B079-48F3-9525-AF6B678CE54D}"/>
              </a:ext>
            </a:extLst>
          </p:cNvPr>
          <p:cNvSpPr>
            <a:spLocks noGrp="1"/>
          </p:cNvSpPr>
          <p:nvPr>
            <p:ph type="title"/>
          </p:nvPr>
        </p:nvSpPr>
        <p:spPr>
          <a:xfrm>
            <a:off x="1028700" y="163135"/>
            <a:ext cx="7200900" cy="1485900"/>
          </a:xfrm>
        </p:spPr>
        <p:txBody>
          <a:bodyPr>
            <a:normAutofit fontScale="90000"/>
          </a:bodyPr>
          <a:lstStyle/>
          <a:p>
            <a:pPr algn="ctr"/>
            <a:r>
              <a:rPr lang="es" dirty="0"/>
              <a:t>Ejercicio 1</a:t>
            </a:r>
            <a:br>
              <a:rPr lang="en-IE" dirty="0"/>
            </a:br>
            <a:r>
              <a:rPr lang="es" sz="2700" dirty="0">
                <a:solidFill>
                  <a:srgbClr val="C00000"/>
                </a:solidFill>
              </a:rPr>
              <a:t>Responder y debatir las cuatro preguntas en equipos (4-5 personas)</a:t>
            </a:r>
            <a:br>
              <a:rPr lang="en-IE" sz="3300" dirty="0">
                <a:solidFill>
                  <a:srgbClr val="C00000"/>
                </a:solidFill>
              </a:rPr>
            </a:br>
            <a:endParaRPr lang="en-IE" dirty="0"/>
          </a:p>
        </p:txBody>
      </p:sp>
      <p:sp>
        <p:nvSpPr>
          <p:cNvPr id="34" name="Content Placeholder 2">
            <a:extLst>
              <a:ext uri="{FF2B5EF4-FFF2-40B4-BE49-F238E27FC236}">
                <a16:creationId xmlns:a16="http://schemas.microsoft.com/office/drawing/2014/main" id="{88458D1B-1F11-431A-A317-551404AFC455}"/>
              </a:ext>
            </a:extLst>
          </p:cNvPr>
          <p:cNvSpPr>
            <a:spLocks noGrp="1"/>
          </p:cNvSpPr>
          <p:nvPr>
            <p:ph sz="half" idx="1"/>
          </p:nvPr>
        </p:nvSpPr>
        <p:spPr>
          <a:xfrm>
            <a:off x="628650" y="1649034"/>
            <a:ext cx="3795524" cy="4904165"/>
          </a:xfrm>
        </p:spPr>
        <p:txBody>
          <a:bodyPr>
            <a:noAutofit/>
          </a:bodyPr>
          <a:lstStyle/>
          <a:p>
            <a:pPr marL="0" indent="12700" algn="just">
              <a:lnSpc>
                <a:spcPct val="150000"/>
              </a:lnSpc>
              <a:spcAft>
                <a:spcPts val="900"/>
              </a:spcAft>
              <a:buNone/>
              <a:defRPr/>
            </a:pPr>
            <a:r>
              <a:rPr lang="es" sz="1600" b="1" dirty="0">
                <a:solidFill>
                  <a:schemeClr val="tx1">
                    <a:lumMod val="95000"/>
                  </a:schemeClr>
                </a:solidFill>
                <a:ea typeface="Times New Roman"/>
                <a:cs typeface="Times New Roman"/>
              </a:rPr>
              <a:t>Jack (25) acaba de despertar. Tiene resaca. Anoche condujo a casa tarde después de una noche de fiesta. Ha encendido la radio y escucha que un peatón está hospitalizado tras sufrir un atropello y fuga en la carretera por la que vino a casa anoche. La policía pide testigos. Jack se sorprende porque recuerda que chocó contra algo o alguien y no se detuvo. Revisa su coche y encuentra daños en el lado del copiloto. También hay manchas en el capó que parecen sangre.</a:t>
            </a:r>
            <a:endParaRPr lang="en-IE" sz="1600" b="1" dirty="0">
              <a:solidFill>
                <a:prstClr val="black">
                  <a:lumMod val="95000"/>
                </a:prstClr>
              </a:solidFill>
            </a:endParaRPr>
          </a:p>
          <a:p>
            <a:pPr marL="0" indent="0">
              <a:buNone/>
              <a:defRPr/>
            </a:pPr>
            <a:endParaRPr lang="en-IE" sz="1600" dirty="0">
              <a:solidFill>
                <a:srgbClr val="C00000"/>
              </a:solidFill>
            </a:endParaRPr>
          </a:p>
          <a:p>
            <a:pPr marL="0" indent="0">
              <a:buNone/>
              <a:defRPr/>
            </a:pPr>
            <a:endParaRPr lang="en-IE" sz="1600" dirty="0">
              <a:solidFill>
                <a:srgbClr val="C00000"/>
              </a:solidFill>
            </a:endParaRPr>
          </a:p>
          <a:p>
            <a:pPr marL="0" indent="0">
              <a:buNone/>
              <a:defRPr/>
            </a:pPr>
            <a:endParaRPr lang="en-IE" sz="1600" dirty="0"/>
          </a:p>
          <a:p>
            <a:pPr eaLnBrk="1" hangingPunct="1">
              <a:buFont typeface="Arial" charset="0"/>
              <a:buNone/>
              <a:defRPr/>
            </a:pPr>
            <a:endParaRPr lang="en-IE" sz="1600" dirty="0">
              <a:solidFill>
                <a:schemeClr val="tx2">
                  <a:lumMod val="90000"/>
                </a:schemeClr>
              </a:solidFill>
            </a:endParaRPr>
          </a:p>
          <a:p>
            <a:pPr eaLnBrk="1" hangingPunct="1">
              <a:buFont typeface="Arial" charset="0"/>
              <a:buNone/>
              <a:defRPr/>
            </a:pPr>
            <a:endParaRPr lang="en-IE" sz="1600" dirty="0">
              <a:solidFill>
                <a:schemeClr val="tx2">
                  <a:lumMod val="90000"/>
                </a:schemeClr>
              </a:solidFill>
            </a:endParaRPr>
          </a:p>
          <a:p>
            <a:pPr eaLnBrk="1" hangingPunct="1">
              <a:buFont typeface="Arial" charset="0"/>
              <a:buNone/>
              <a:defRPr/>
            </a:pPr>
            <a:endParaRPr lang="en-IE" sz="1600" dirty="0"/>
          </a:p>
          <a:p>
            <a:endParaRPr lang="en-IE" sz="1600" dirty="0"/>
          </a:p>
        </p:txBody>
      </p:sp>
      <p:sp>
        <p:nvSpPr>
          <p:cNvPr id="4" name="Content Placeholder 3">
            <a:extLst>
              <a:ext uri="{FF2B5EF4-FFF2-40B4-BE49-F238E27FC236}">
                <a16:creationId xmlns:a16="http://schemas.microsoft.com/office/drawing/2014/main" id="{72829D82-3EDA-4AAB-9A11-656D2CA51FD0}"/>
              </a:ext>
            </a:extLst>
          </p:cNvPr>
          <p:cNvSpPr>
            <a:spLocks noGrp="1"/>
          </p:cNvSpPr>
          <p:nvPr>
            <p:ph sz="half" idx="2"/>
          </p:nvPr>
        </p:nvSpPr>
        <p:spPr>
          <a:xfrm>
            <a:off x="4572000" y="1981200"/>
            <a:ext cx="4248150" cy="3820083"/>
          </a:xfrm>
        </p:spPr>
        <p:txBody>
          <a:bodyPr>
            <a:normAutofit fontScale="25000" lnSpcReduction="20000"/>
          </a:bodyPr>
          <a:lstStyle/>
          <a:p>
            <a:pPr marL="0" indent="0" algn="just">
              <a:lnSpc>
                <a:spcPct val="120000"/>
              </a:lnSpc>
              <a:buNone/>
              <a:defRPr/>
            </a:pPr>
            <a:r>
              <a:rPr lang="es" sz="6400" dirty="0">
                <a:solidFill>
                  <a:srgbClr val="C00000"/>
                </a:solidFill>
              </a:rPr>
              <a:t>1) ¿Qué tipo de conflictos internos o disonancias pueden estar presentes en esta situación? ¿Está amenazada la confianza de Jack en sí mismo como una persona buena, honesta e inteligente?</a:t>
            </a:r>
            <a:endParaRPr lang="en-IE" sz="6400" dirty="0">
              <a:solidFill>
                <a:srgbClr val="C00000"/>
              </a:solidFill>
            </a:endParaRPr>
          </a:p>
          <a:p>
            <a:pPr marL="0" indent="0" algn="just">
              <a:lnSpc>
                <a:spcPct val="120000"/>
              </a:lnSpc>
              <a:buNone/>
              <a:defRPr/>
            </a:pPr>
            <a:r>
              <a:rPr lang="es" sz="6400" dirty="0">
                <a:solidFill>
                  <a:srgbClr val="C00000"/>
                </a:solidFill>
              </a:rPr>
              <a:t>2) ¿Cuáles son las posibles formas en que Jack puede reducir la disonancia que experimenta?</a:t>
            </a:r>
            <a:endParaRPr lang="en-IE" sz="6400" dirty="0">
              <a:solidFill>
                <a:srgbClr val="C00000"/>
              </a:solidFill>
            </a:endParaRPr>
          </a:p>
          <a:p>
            <a:pPr marL="0" indent="0" algn="just">
              <a:lnSpc>
                <a:spcPct val="120000"/>
              </a:lnSpc>
              <a:buNone/>
              <a:defRPr/>
            </a:pPr>
            <a:r>
              <a:rPr lang="es" sz="6400" dirty="0">
                <a:solidFill>
                  <a:srgbClr val="C00000"/>
                </a:solidFill>
              </a:rPr>
              <a:t>3) ¿Qué tipo de autoengaño podría realizar Jack para reducir su disonancia?</a:t>
            </a:r>
            <a:endParaRPr lang="en-IE" sz="6400" dirty="0">
              <a:solidFill>
                <a:srgbClr val="C00000"/>
              </a:solidFill>
            </a:endParaRPr>
          </a:p>
          <a:p>
            <a:pPr marL="0" indent="0" algn="just">
              <a:lnSpc>
                <a:spcPct val="120000"/>
              </a:lnSpc>
              <a:buNone/>
              <a:defRPr/>
            </a:pPr>
            <a:r>
              <a:rPr lang="es" sz="6400" dirty="0">
                <a:solidFill>
                  <a:srgbClr val="C00000"/>
                </a:solidFill>
              </a:rPr>
              <a:t>4) Dependiendo de lo que Jack haga ahora, ¿cuál podría ser el impacto a largo plazo en cómo podría sentirse acerca de sí mismo?</a:t>
            </a:r>
          </a:p>
          <a:p>
            <a:pPr marL="0" indent="0" algn="just">
              <a:buNone/>
              <a:defRPr/>
            </a:pPr>
            <a:endParaRPr lang="en-IE" sz="4125" dirty="0">
              <a:solidFill>
                <a:srgbClr val="C00000"/>
              </a:solidFill>
            </a:endParaRPr>
          </a:p>
          <a:p>
            <a:pPr marL="0" indent="0" algn="just">
              <a:buNone/>
            </a:pPr>
            <a:endParaRPr lang="en-IE" dirty="0"/>
          </a:p>
        </p:txBody>
      </p:sp>
    </p:spTree>
    <p:extLst>
      <p:ext uri="{BB962C8B-B14F-4D97-AF65-F5344CB8AC3E}">
        <p14:creationId xmlns:p14="http://schemas.microsoft.com/office/powerpoint/2010/main" val="17875630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E685C-87F1-DF1C-BE77-00A9E3AEFC65}"/>
            </a:ext>
          </a:extLst>
        </p:cNvPr>
        <p:cNvGrpSpPr/>
        <p:nvPr/>
      </p:nvGrpSpPr>
      <p:grpSpPr>
        <a:xfrm>
          <a:off x="0" y="0"/>
          <a:ext cx="0" cy="0"/>
          <a:chOff x="0" y="0"/>
          <a:chExt cx="0" cy="0"/>
        </a:xfrm>
      </p:grpSpPr>
      <p:sp>
        <p:nvSpPr>
          <p:cNvPr id="6146" name="AutoShape 2">
            <a:extLst>
              <a:ext uri="{FF2B5EF4-FFF2-40B4-BE49-F238E27FC236}">
                <a16:creationId xmlns:a16="http://schemas.microsoft.com/office/drawing/2014/main" id="{0847BF7B-8380-CA5F-48C7-CEC50AD78634}"/>
              </a:ext>
            </a:extLst>
          </p:cNvPr>
          <p:cNvSpPr>
            <a:spLocks noGrp="1" noChangeArrowheads="1"/>
          </p:cNvSpPr>
          <p:nvPr>
            <p:ph type="title"/>
          </p:nvPr>
        </p:nvSpPr>
        <p:spPr>
          <a:xfrm>
            <a:off x="971550" y="0"/>
            <a:ext cx="7200900" cy="762000"/>
          </a:xfrm>
        </p:spPr>
        <p:txBody>
          <a:bodyPr>
            <a:noAutofit/>
          </a:bodyPr>
          <a:lstStyle/>
          <a:p>
            <a:pPr algn="ctr">
              <a:lnSpc>
                <a:spcPct val="100000"/>
              </a:lnSpc>
              <a:spcBef>
                <a:spcPts val="0"/>
              </a:spcBef>
            </a:pPr>
            <a:r>
              <a:rPr lang="es-ES" sz="3200" b="1" dirty="0"/>
              <a:t>3.1. Paradigma de la Libre Elección</a:t>
            </a:r>
          </a:p>
        </p:txBody>
      </p:sp>
      <p:sp>
        <p:nvSpPr>
          <p:cNvPr id="2" name="Rectangle 3">
            <a:extLst>
              <a:ext uri="{FF2B5EF4-FFF2-40B4-BE49-F238E27FC236}">
                <a16:creationId xmlns:a16="http://schemas.microsoft.com/office/drawing/2014/main" id="{D5251101-25A7-6DA6-482F-1D2A8A65C282}"/>
              </a:ext>
            </a:extLst>
          </p:cNvPr>
          <p:cNvSpPr txBox="1">
            <a:spLocks noChangeArrowheads="1"/>
          </p:cNvSpPr>
          <p:nvPr/>
        </p:nvSpPr>
        <p:spPr>
          <a:xfrm>
            <a:off x="685800" y="533400"/>
            <a:ext cx="8305802" cy="5715000"/>
          </a:xfrm>
          <a:prstGeom prst="rect">
            <a:avLst/>
          </a:prstGeom>
        </p:spPr>
        <p:txBody>
          <a:bodyPr vert="horz" lIns="91440" tIns="45720" rIns="91440" bIns="45720" rtlCol="0">
            <a:noAutofit/>
          </a:bodyPr>
          <a:lstStyle>
            <a:lvl1pPr marL="384048" indent="-384048" algn="l" defTabSz="6858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algn="ctr">
              <a:lnSpc>
                <a:spcPct val="100000"/>
              </a:lnSpc>
              <a:spcBef>
                <a:spcPts val="0"/>
              </a:spcBef>
              <a:spcAft>
                <a:spcPts val="0"/>
              </a:spcAft>
              <a:buNone/>
            </a:pPr>
            <a:endParaRPr lang="es-ES" dirty="0"/>
          </a:p>
          <a:p>
            <a:pPr>
              <a:lnSpc>
                <a:spcPct val="100000"/>
              </a:lnSpc>
              <a:spcBef>
                <a:spcPts val="0"/>
              </a:spcBef>
              <a:spcAft>
                <a:spcPts val="0"/>
              </a:spcAft>
              <a:buNone/>
            </a:pPr>
            <a:r>
              <a:rPr lang="es-ES" b="1" dirty="0"/>
              <a:t>Tras tomar una decisión entre dos opciones </a:t>
            </a:r>
            <a:r>
              <a:rPr lang="es-ES" dirty="0"/>
              <a:t>surgen disonancias:</a:t>
            </a:r>
          </a:p>
          <a:p>
            <a:pPr marL="742950" lvl="1" indent="-285750">
              <a:lnSpc>
                <a:spcPct val="100000"/>
              </a:lnSpc>
              <a:spcBef>
                <a:spcPts val="0"/>
              </a:spcBef>
              <a:spcAft>
                <a:spcPts val="0"/>
              </a:spcAft>
              <a:buFont typeface="Arial" panose="020B0604020202020204" pitchFamily="34" charset="0"/>
              <a:buChar char="•"/>
            </a:pPr>
            <a:r>
              <a:rPr lang="es-ES" i="0" dirty="0"/>
              <a:t>Elegida → Pensamos en aspectos negativos (¿Debería haber elegido la otra?)</a:t>
            </a:r>
          </a:p>
          <a:p>
            <a:pPr marL="742950" lvl="1" indent="-285750">
              <a:lnSpc>
                <a:spcPct val="100000"/>
              </a:lnSpc>
              <a:spcBef>
                <a:spcPts val="0"/>
              </a:spcBef>
              <a:spcAft>
                <a:spcPts val="0"/>
              </a:spcAft>
              <a:buFont typeface="Arial" panose="020B0604020202020204" pitchFamily="34" charset="0"/>
              <a:buChar char="•"/>
            </a:pPr>
            <a:r>
              <a:rPr lang="es-ES" i="0" dirty="0"/>
              <a:t>Rechazada → aspectos positivos (¿Debería haber elegido esta?)</a:t>
            </a:r>
          </a:p>
          <a:p>
            <a:pPr>
              <a:lnSpc>
                <a:spcPct val="100000"/>
              </a:lnSpc>
              <a:spcBef>
                <a:spcPts val="0"/>
              </a:spcBef>
              <a:spcAft>
                <a:spcPts val="0"/>
              </a:spcAft>
              <a:buNone/>
            </a:pPr>
            <a:endParaRPr lang="es-ES" dirty="0"/>
          </a:p>
          <a:p>
            <a:pPr marL="52388" indent="0">
              <a:lnSpc>
                <a:spcPct val="100000"/>
              </a:lnSpc>
              <a:spcBef>
                <a:spcPts val="0"/>
              </a:spcBef>
              <a:spcAft>
                <a:spcPts val="0"/>
              </a:spcAft>
              <a:buNone/>
            </a:pPr>
            <a:r>
              <a:rPr lang="es-ES" dirty="0"/>
              <a:t>Cuanto más difícil es la decisión, mayor disonancia → más necesidad de reducirla.</a:t>
            </a:r>
          </a:p>
          <a:p>
            <a:pPr>
              <a:lnSpc>
                <a:spcPct val="100000"/>
              </a:lnSpc>
              <a:spcBef>
                <a:spcPts val="0"/>
              </a:spcBef>
              <a:spcAft>
                <a:spcPts val="0"/>
              </a:spcAft>
              <a:buNone/>
            </a:pPr>
            <a:endParaRPr lang="es-ES" dirty="0"/>
          </a:p>
          <a:p>
            <a:pPr>
              <a:lnSpc>
                <a:spcPct val="100000"/>
              </a:lnSpc>
              <a:spcBef>
                <a:spcPts val="0"/>
              </a:spcBef>
              <a:spcAft>
                <a:spcPts val="0"/>
              </a:spcAft>
              <a:buNone/>
            </a:pPr>
            <a:r>
              <a:rPr lang="es-ES" dirty="0"/>
              <a:t>¿Cómo se reduce la disonancia?</a:t>
            </a:r>
          </a:p>
          <a:p>
            <a:pPr>
              <a:lnSpc>
                <a:spcPct val="100000"/>
              </a:lnSpc>
              <a:spcBef>
                <a:spcPts val="0"/>
              </a:spcBef>
              <a:spcAft>
                <a:spcPts val="0"/>
              </a:spcAft>
              <a:buFont typeface="Arial" panose="020B0604020202020204" pitchFamily="34" charset="0"/>
              <a:buChar char="•"/>
            </a:pPr>
            <a:r>
              <a:rPr lang="es-ES" dirty="0"/>
              <a:t>Eliminando lo negativo de la opción elegida o lo positivo de la rechazada.</a:t>
            </a:r>
          </a:p>
          <a:p>
            <a:pPr>
              <a:lnSpc>
                <a:spcPct val="100000"/>
              </a:lnSpc>
              <a:spcBef>
                <a:spcPts val="0"/>
              </a:spcBef>
              <a:spcAft>
                <a:spcPts val="0"/>
              </a:spcAft>
              <a:buFont typeface="Arial" panose="020B0604020202020204" pitchFamily="34" charset="0"/>
              <a:buChar char="•"/>
            </a:pPr>
            <a:r>
              <a:rPr lang="es-ES" dirty="0"/>
              <a:t>Añadiendo aspectos positivos a la elegida o negativos a la rechazada.</a:t>
            </a:r>
          </a:p>
          <a:p>
            <a:pPr marL="0" indent="0">
              <a:lnSpc>
                <a:spcPct val="100000"/>
              </a:lnSpc>
              <a:spcBef>
                <a:spcPts val="0"/>
              </a:spcBef>
              <a:spcAft>
                <a:spcPts val="0"/>
              </a:spcAft>
              <a:buNone/>
            </a:pPr>
            <a:endParaRPr lang="es-ES" dirty="0"/>
          </a:p>
          <a:p>
            <a:pPr marL="0" indent="0">
              <a:lnSpc>
                <a:spcPct val="100000"/>
              </a:lnSpc>
              <a:spcBef>
                <a:spcPts val="0"/>
              </a:spcBef>
              <a:spcAft>
                <a:spcPts val="0"/>
              </a:spcAft>
              <a:buNone/>
            </a:pPr>
            <a:r>
              <a:rPr lang="es-ES" dirty="0"/>
              <a:t>Ej. </a:t>
            </a:r>
            <a:r>
              <a:rPr lang="es-ES" sz="2000" dirty="0"/>
              <a:t>Una persona duda entre ir a un concierto o salir a cenar con amigos. Cuando elige el concierto, puede pensar: </a:t>
            </a:r>
            <a:r>
              <a:rPr lang="es-ES" sz="2000" i="1" dirty="0"/>
              <a:t>«Era la mejor opción, la cena habría sido aburrida».</a:t>
            </a:r>
            <a:br>
              <a:rPr lang="es-ES" dirty="0"/>
            </a:br>
            <a:endParaRPr lang="es-ES" b="1" dirty="0"/>
          </a:p>
        </p:txBody>
      </p:sp>
    </p:spTree>
    <p:extLst>
      <p:ext uri="{BB962C8B-B14F-4D97-AF65-F5344CB8AC3E}">
        <p14:creationId xmlns:p14="http://schemas.microsoft.com/office/powerpoint/2010/main" val="329960792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34D79-693B-5958-67D7-5174C0C81B13}"/>
            </a:ext>
          </a:extLst>
        </p:cNvPr>
        <p:cNvGrpSpPr/>
        <p:nvPr/>
      </p:nvGrpSpPr>
      <p:grpSpPr>
        <a:xfrm>
          <a:off x="0" y="0"/>
          <a:ext cx="0" cy="0"/>
          <a:chOff x="0" y="0"/>
          <a:chExt cx="0" cy="0"/>
        </a:xfrm>
      </p:grpSpPr>
      <p:sp>
        <p:nvSpPr>
          <p:cNvPr id="6146" name="AutoShape 2">
            <a:extLst>
              <a:ext uri="{FF2B5EF4-FFF2-40B4-BE49-F238E27FC236}">
                <a16:creationId xmlns:a16="http://schemas.microsoft.com/office/drawing/2014/main" id="{AE13B31A-3E36-3971-CBF8-7520B555DD12}"/>
              </a:ext>
            </a:extLst>
          </p:cNvPr>
          <p:cNvSpPr>
            <a:spLocks noGrp="1" noChangeArrowheads="1"/>
          </p:cNvSpPr>
          <p:nvPr>
            <p:ph type="title"/>
          </p:nvPr>
        </p:nvSpPr>
        <p:spPr>
          <a:xfrm>
            <a:off x="971550" y="0"/>
            <a:ext cx="7200900" cy="762000"/>
          </a:xfrm>
        </p:spPr>
        <p:txBody>
          <a:bodyPr>
            <a:noAutofit/>
          </a:bodyPr>
          <a:lstStyle/>
          <a:p>
            <a:pPr algn="ctr"/>
            <a:r>
              <a:rPr lang="es-ES_tradnl" sz="3200" noProof="1"/>
              <a:t>3.2. </a:t>
            </a:r>
            <a:r>
              <a:rPr lang="es-ES" sz="3200" b="1" dirty="0"/>
              <a:t>Paradigma de la </a:t>
            </a:r>
            <a:r>
              <a:rPr lang="es-ES" sz="3200" b="1" dirty="0" err="1"/>
              <a:t>Desconfirmación</a:t>
            </a:r>
            <a:r>
              <a:rPr lang="es-ES" sz="3200" b="1" dirty="0"/>
              <a:t> de Creencias</a:t>
            </a:r>
            <a:br>
              <a:rPr lang="es-ES" sz="3200" b="1" dirty="0"/>
            </a:br>
            <a:endParaRPr lang="es-ES_tradnl" sz="3200" noProof="1"/>
          </a:p>
        </p:txBody>
      </p:sp>
      <p:sp>
        <p:nvSpPr>
          <p:cNvPr id="2" name="Rectangle 3">
            <a:extLst>
              <a:ext uri="{FF2B5EF4-FFF2-40B4-BE49-F238E27FC236}">
                <a16:creationId xmlns:a16="http://schemas.microsoft.com/office/drawing/2014/main" id="{8A1E3098-4D6E-F124-8A28-C3A13E248646}"/>
              </a:ext>
            </a:extLst>
          </p:cNvPr>
          <p:cNvSpPr txBox="1">
            <a:spLocks noChangeArrowheads="1"/>
          </p:cNvSpPr>
          <p:nvPr/>
        </p:nvSpPr>
        <p:spPr>
          <a:xfrm>
            <a:off x="609600" y="1219200"/>
            <a:ext cx="8382002" cy="5181600"/>
          </a:xfrm>
          <a:prstGeom prst="rect">
            <a:avLst/>
          </a:prstGeom>
        </p:spPr>
        <p:txBody>
          <a:bodyPr vert="horz" lIns="91440" tIns="45720" rIns="91440" bIns="45720" rtlCol="0">
            <a:noAutofit/>
          </a:bodyPr>
          <a:lstStyle>
            <a:lvl1pPr marL="384048" indent="-384048" algn="l" defTabSz="6858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buNone/>
            </a:pPr>
            <a:r>
              <a:rPr lang="es-ES" b="1" dirty="0"/>
              <a:t>Cuando recibimos información que contradice nuestras creencias</a:t>
            </a:r>
            <a:br>
              <a:rPr lang="es-ES" dirty="0"/>
            </a:br>
            <a:r>
              <a:rPr lang="es-ES" dirty="0"/>
              <a:t>→ Se genera disonancia.</a:t>
            </a:r>
          </a:p>
          <a:p>
            <a:pPr marL="52388" indent="0">
              <a:buNone/>
            </a:pPr>
            <a:r>
              <a:rPr lang="es-ES" dirty="0"/>
              <a:t>Si NO se cambia la creencia, se activan estrategias para reducir la disonancia:</a:t>
            </a:r>
          </a:p>
          <a:p>
            <a:pPr>
              <a:buFont typeface="Arial" panose="020B0604020202020204" pitchFamily="34" charset="0"/>
              <a:buChar char="•"/>
            </a:pPr>
            <a:r>
              <a:rPr lang="es-ES" dirty="0"/>
              <a:t>Distorsionar o reinterpretar la nueva información.</a:t>
            </a:r>
          </a:p>
          <a:p>
            <a:pPr>
              <a:buFont typeface="Arial" panose="020B0604020202020204" pitchFamily="34" charset="0"/>
              <a:buChar char="•"/>
            </a:pPr>
            <a:r>
              <a:rPr lang="es-ES" dirty="0"/>
              <a:t>Rechazar o refutar la nueva información</a:t>
            </a:r>
          </a:p>
          <a:p>
            <a:pPr>
              <a:buFont typeface="Arial" panose="020B0604020202020204" pitchFamily="34" charset="0"/>
              <a:buChar char="•"/>
            </a:pPr>
            <a:r>
              <a:rPr lang="es-ES" dirty="0"/>
              <a:t>Intentar defender nuestras creencias más y convencer a otros (aumentando consonancia)</a:t>
            </a:r>
          </a:p>
          <a:p>
            <a:pPr marL="0" indent="0">
              <a:buNone/>
            </a:pPr>
            <a:endParaRPr lang="es-ES" b="1" dirty="0"/>
          </a:p>
          <a:p>
            <a:pPr marL="0" indent="0">
              <a:buNone/>
            </a:pPr>
            <a:r>
              <a:rPr lang="es-ES" b="1" dirty="0"/>
              <a:t>Ej. </a:t>
            </a:r>
            <a:r>
              <a:rPr lang="es-ES" dirty="0"/>
              <a:t>Un grupo creía en una profecía sobre un diluvio que nunca ocurrió. La líder reinterpretó el fracaso afirmando que el mundo se salvó gracias a ellos.</a:t>
            </a:r>
          </a:p>
          <a:p>
            <a:pPr marL="0" indent="0">
              <a:buNone/>
            </a:pPr>
            <a:endParaRPr lang="es-ES" b="1" dirty="0"/>
          </a:p>
        </p:txBody>
      </p:sp>
    </p:spTree>
    <p:extLst>
      <p:ext uri="{BB962C8B-B14F-4D97-AF65-F5344CB8AC3E}">
        <p14:creationId xmlns:p14="http://schemas.microsoft.com/office/powerpoint/2010/main" val="106120785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EFAE3-BE22-8453-B407-FC34CFC42E8B}"/>
            </a:ext>
          </a:extLst>
        </p:cNvPr>
        <p:cNvGrpSpPr/>
        <p:nvPr/>
      </p:nvGrpSpPr>
      <p:grpSpPr>
        <a:xfrm>
          <a:off x="0" y="0"/>
          <a:ext cx="0" cy="0"/>
          <a:chOff x="0" y="0"/>
          <a:chExt cx="0" cy="0"/>
        </a:xfrm>
      </p:grpSpPr>
      <p:sp>
        <p:nvSpPr>
          <p:cNvPr id="6146" name="AutoShape 2">
            <a:extLst>
              <a:ext uri="{FF2B5EF4-FFF2-40B4-BE49-F238E27FC236}">
                <a16:creationId xmlns:a16="http://schemas.microsoft.com/office/drawing/2014/main" id="{1BE1EA14-F616-1101-29B2-7C9C9A94FCAA}"/>
              </a:ext>
            </a:extLst>
          </p:cNvPr>
          <p:cNvSpPr>
            <a:spLocks noGrp="1" noChangeArrowheads="1"/>
          </p:cNvSpPr>
          <p:nvPr>
            <p:ph type="title"/>
          </p:nvPr>
        </p:nvSpPr>
        <p:spPr>
          <a:xfrm>
            <a:off x="971550" y="0"/>
            <a:ext cx="7200900" cy="762000"/>
          </a:xfrm>
        </p:spPr>
        <p:txBody>
          <a:bodyPr>
            <a:noAutofit/>
          </a:bodyPr>
          <a:lstStyle/>
          <a:p>
            <a:pPr algn="ctr"/>
            <a:r>
              <a:rPr lang="es-ES_tradnl" sz="3200" noProof="1"/>
              <a:t>3.3. </a:t>
            </a:r>
            <a:r>
              <a:rPr lang="es-ES" sz="3200" b="1" dirty="0"/>
              <a:t>Paradigma de Justificación del Esfuerzo</a:t>
            </a:r>
            <a:br>
              <a:rPr lang="es-ES" sz="3200" b="1" dirty="0"/>
            </a:br>
            <a:endParaRPr lang="es-ES_tradnl" sz="3200" noProof="1"/>
          </a:p>
        </p:txBody>
      </p:sp>
      <p:sp>
        <p:nvSpPr>
          <p:cNvPr id="2" name="Rectangle 3">
            <a:extLst>
              <a:ext uri="{FF2B5EF4-FFF2-40B4-BE49-F238E27FC236}">
                <a16:creationId xmlns:a16="http://schemas.microsoft.com/office/drawing/2014/main" id="{0C819BEA-2DE9-2CE7-FD51-A6D254C85EF7}"/>
              </a:ext>
            </a:extLst>
          </p:cNvPr>
          <p:cNvSpPr txBox="1">
            <a:spLocks noChangeArrowheads="1"/>
          </p:cNvSpPr>
          <p:nvPr/>
        </p:nvSpPr>
        <p:spPr>
          <a:xfrm>
            <a:off x="685800" y="1219200"/>
            <a:ext cx="8458200" cy="5029200"/>
          </a:xfrm>
          <a:prstGeom prst="rect">
            <a:avLst/>
          </a:prstGeom>
        </p:spPr>
        <p:txBody>
          <a:bodyPr vert="horz" lIns="91440" tIns="45720" rIns="91440" bIns="45720" rtlCol="0">
            <a:noAutofit/>
          </a:bodyPr>
          <a:lstStyle>
            <a:lvl1pPr marL="384048" indent="-384048" algn="l" defTabSz="6858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52388" indent="0">
              <a:lnSpc>
                <a:spcPct val="100000"/>
              </a:lnSpc>
              <a:buNone/>
            </a:pPr>
            <a:r>
              <a:rPr lang="es-ES" b="1" dirty="0"/>
              <a:t>Cuando hacemos algo desagradable o costoso para conseguir un objetivo.</a:t>
            </a:r>
            <a:endParaRPr lang="es-ES" dirty="0"/>
          </a:p>
          <a:p>
            <a:pPr>
              <a:lnSpc>
                <a:spcPct val="100000"/>
              </a:lnSpc>
              <a:buNone/>
            </a:pPr>
            <a:r>
              <a:rPr lang="es-ES" dirty="0"/>
              <a:t>Disonancia: “Si tanto me ha costado… ¿por qué lo hice?”</a:t>
            </a:r>
            <a:br>
              <a:rPr lang="es-ES" dirty="0"/>
            </a:br>
            <a:endParaRPr lang="es-ES" dirty="0"/>
          </a:p>
          <a:p>
            <a:pPr>
              <a:lnSpc>
                <a:spcPct val="100000"/>
              </a:lnSpc>
              <a:buFont typeface="Arial" panose="020B0604020202020204" pitchFamily="34" charset="0"/>
              <a:buChar char="•"/>
            </a:pPr>
            <a:r>
              <a:rPr lang="es-ES" dirty="0"/>
              <a:t>Para reducir esa tensión, tendemos a </a:t>
            </a:r>
            <a:r>
              <a:rPr lang="es-ES" b="1" dirty="0"/>
              <a:t>valorar más positivamente el resultado</a:t>
            </a:r>
            <a:r>
              <a:rPr lang="es-ES" dirty="0"/>
              <a:t>, justificando el esfuerzo realizado. </a:t>
            </a:r>
          </a:p>
          <a:p>
            <a:pPr>
              <a:lnSpc>
                <a:spcPct val="100000"/>
              </a:lnSpc>
              <a:buFont typeface="Arial" panose="020B0604020202020204" pitchFamily="34" charset="0"/>
              <a:buChar char="•"/>
            </a:pPr>
            <a:endParaRPr lang="es-ES" b="1" dirty="0"/>
          </a:p>
          <a:p>
            <a:pPr marL="0" indent="0">
              <a:lnSpc>
                <a:spcPct val="100000"/>
              </a:lnSpc>
              <a:buNone/>
            </a:pPr>
            <a:r>
              <a:rPr lang="es-ES" b="1" dirty="0"/>
              <a:t>Ej. </a:t>
            </a:r>
            <a:r>
              <a:rPr lang="es-ES" dirty="0"/>
              <a:t>En el experimento de Aronson &amp; Mills (1959), un grupo de mujeres realizaron una actividad inicial muy vergonzosa para entrar en un grupo de discusión. Otras no hicieron tal actividad. El grupo de discusión resultó ser muy aburrido. Las que realizaron la actividad más vergonzosa lo valoraron más positivamente que quienes hicieron una actividad normal. </a:t>
            </a:r>
          </a:p>
          <a:p>
            <a:pPr>
              <a:lnSpc>
                <a:spcPct val="100000"/>
              </a:lnSpc>
              <a:buFont typeface="Arial" panose="020B0604020202020204" pitchFamily="34" charset="0"/>
              <a:buChar char="•"/>
            </a:pPr>
            <a:r>
              <a:rPr lang="es-ES" dirty="0"/>
              <a:t>Cuanto mayor el esfuerzo, mayor la necesidad de justificarlo y reducir la disonancia.</a:t>
            </a:r>
            <a:endParaRPr lang="es-ES" b="1" dirty="0"/>
          </a:p>
        </p:txBody>
      </p:sp>
    </p:spTree>
    <p:extLst>
      <p:ext uri="{BB962C8B-B14F-4D97-AF65-F5344CB8AC3E}">
        <p14:creationId xmlns:p14="http://schemas.microsoft.com/office/powerpoint/2010/main" val="114568525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0F871-BF40-61EB-0F3A-630628DDD5CB}"/>
            </a:ext>
          </a:extLst>
        </p:cNvPr>
        <p:cNvGrpSpPr/>
        <p:nvPr/>
      </p:nvGrpSpPr>
      <p:grpSpPr>
        <a:xfrm>
          <a:off x="0" y="0"/>
          <a:ext cx="0" cy="0"/>
          <a:chOff x="0" y="0"/>
          <a:chExt cx="0" cy="0"/>
        </a:xfrm>
      </p:grpSpPr>
      <p:sp>
        <p:nvSpPr>
          <p:cNvPr id="6146" name="AutoShape 2">
            <a:extLst>
              <a:ext uri="{FF2B5EF4-FFF2-40B4-BE49-F238E27FC236}">
                <a16:creationId xmlns:a16="http://schemas.microsoft.com/office/drawing/2014/main" id="{F203FEF3-AC5F-81DF-082A-D6A2B9243775}"/>
              </a:ext>
            </a:extLst>
          </p:cNvPr>
          <p:cNvSpPr>
            <a:spLocks noGrp="1" noChangeArrowheads="1"/>
          </p:cNvSpPr>
          <p:nvPr>
            <p:ph type="title"/>
          </p:nvPr>
        </p:nvSpPr>
        <p:spPr>
          <a:xfrm>
            <a:off x="971550" y="0"/>
            <a:ext cx="7200900" cy="762000"/>
          </a:xfrm>
        </p:spPr>
        <p:txBody>
          <a:bodyPr>
            <a:noAutofit/>
          </a:bodyPr>
          <a:lstStyle/>
          <a:p>
            <a:pPr algn="ctr"/>
            <a:r>
              <a:rPr lang="es-ES_tradnl" sz="3200" noProof="1"/>
              <a:t>3.4. </a:t>
            </a:r>
            <a:r>
              <a:rPr lang="es-ES" sz="3200" b="1" dirty="0"/>
              <a:t>Paradigma de Complacencia Inducida</a:t>
            </a:r>
            <a:br>
              <a:rPr lang="es-ES" sz="3200" b="1" dirty="0"/>
            </a:br>
            <a:endParaRPr lang="es-ES_tradnl" sz="3200" noProof="1"/>
          </a:p>
        </p:txBody>
      </p:sp>
      <p:sp>
        <p:nvSpPr>
          <p:cNvPr id="2" name="Rectangle 3">
            <a:extLst>
              <a:ext uri="{FF2B5EF4-FFF2-40B4-BE49-F238E27FC236}">
                <a16:creationId xmlns:a16="http://schemas.microsoft.com/office/drawing/2014/main" id="{C2E89837-0085-AF3E-8EE5-62A8F5926F28}"/>
              </a:ext>
            </a:extLst>
          </p:cNvPr>
          <p:cNvSpPr txBox="1">
            <a:spLocks noChangeArrowheads="1"/>
          </p:cNvSpPr>
          <p:nvPr/>
        </p:nvSpPr>
        <p:spPr>
          <a:xfrm>
            <a:off x="838200" y="1143000"/>
            <a:ext cx="8001000" cy="5105400"/>
          </a:xfrm>
          <a:prstGeom prst="rect">
            <a:avLst/>
          </a:prstGeom>
        </p:spPr>
        <p:txBody>
          <a:bodyPr vert="horz" lIns="91440" tIns="45720" rIns="91440" bIns="45720" rtlCol="0">
            <a:noAutofit/>
          </a:bodyPr>
          <a:lstStyle>
            <a:lvl1pPr marL="384048" indent="-384048" algn="l" defTabSz="6858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12700" indent="0">
              <a:lnSpc>
                <a:spcPct val="100000"/>
              </a:lnSpc>
              <a:buNone/>
            </a:pPr>
            <a:r>
              <a:rPr lang="es-ES" dirty="0"/>
              <a:t>Cuando decimos o hacemos algo que contradice nuestras creencias anteriores.</a:t>
            </a:r>
          </a:p>
          <a:p>
            <a:pPr marL="12700" indent="0">
              <a:lnSpc>
                <a:spcPct val="100000"/>
              </a:lnSpc>
              <a:buNone/>
            </a:pPr>
            <a:endParaRPr lang="es-ES" dirty="0"/>
          </a:p>
          <a:p>
            <a:pPr marL="12700" indent="0">
              <a:lnSpc>
                <a:spcPct val="100000"/>
              </a:lnSpc>
              <a:buNone/>
            </a:pPr>
            <a:r>
              <a:rPr lang="es-ES" dirty="0"/>
              <a:t>Si hay pocas justificaciones externas para haberlo hecho (p. ej., poco dinero), la disonancia es mayor y se reduce </a:t>
            </a:r>
            <a:r>
              <a:rPr lang="es-ES" b="1" dirty="0"/>
              <a:t>cambiando la actitud, actualizándola</a:t>
            </a:r>
            <a:r>
              <a:rPr lang="es-ES" dirty="0"/>
              <a:t> para que coincida con lo dicho o hecho.</a:t>
            </a:r>
          </a:p>
          <a:p>
            <a:pPr marL="12700" indent="0">
              <a:lnSpc>
                <a:spcPct val="100000"/>
              </a:lnSpc>
              <a:buNone/>
            </a:pPr>
            <a:endParaRPr lang="es-ES" dirty="0"/>
          </a:p>
          <a:p>
            <a:pPr>
              <a:lnSpc>
                <a:spcPct val="100000"/>
              </a:lnSpc>
              <a:buNone/>
            </a:pPr>
            <a:r>
              <a:rPr lang="es-ES" dirty="0"/>
              <a:t>Ej. En el experimento de Festinger &amp; </a:t>
            </a:r>
            <a:r>
              <a:rPr lang="es-ES" dirty="0" err="1"/>
              <a:t>Carlsmith</a:t>
            </a:r>
            <a:r>
              <a:rPr lang="es-ES" dirty="0"/>
              <a:t> (1959), tras realizar una tarea aburrida, los participantes debían decir que era divertida a cambio de 1$ o 20$. Quienes recibieron solo 1$ (poca justificación externa) cambiaron su actitud y valoraron la tarea como más interesante, mostrando el </a:t>
            </a:r>
            <a:r>
              <a:rPr lang="es-ES" i="1" dirty="0"/>
              <a:t>negative-incentive </a:t>
            </a:r>
            <a:r>
              <a:rPr lang="es-ES" i="1" dirty="0" err="1"/>
              <a:t>effect</a:t>
            </a:r>
            <a:r>
              <a:rPr lang="es-ES" dirty="0"/>
              <a:t>: menos recompensa → más cambio de actitud.</a:t>
            </a:r>
          </a:p>
        </p:txBody>
      </p:sp>
    </p:spTree>
    <p:extLst>
      <p:ext uri="{BB962C8B-B14F-4D97-AF65-F5344CB8AC3E}">
        <p14:creationId xmlns:p14="http://schemas.microsoft.com/office/powerpoint/2010/main" val="382209863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2829D82-3EDA-4AAB-9A11-656D2CA51FD0}"/>
              </a:ext>
            </a:extLst>
          </p:cNvPr>
          <p:cNvSpPr>
            <a:spLocks noGrp="1"/>
          </p:cNvSpPr>
          <p:nvPr>
            <p:ph sz="half" idx="2"/>
          </p:nvPr>
        </p:nvSpPr>
        <p:spPr>
          <a:xfrm>
            <a:off x="4629150" y="1992905"/>
            <a:ext cx="3886200" cy="3586520"/>
          </a:xfrm>
        </p:spPr>
        <p:txBody>
          <a:bodyPr>
            <a:normAutofit/>
          </a:bodyPr>
          <a:lstStyle/>
          <a:p>
            <a:pPr marL="0" indent="0">
              <a:buNone/>
              <a:defRPr/>
            </a:pPr>
            <a:endParaRPr lang="en-IE" sz="4125" dirty="0">
              <a:solidFill>
                <a:srgbClr val="C00000"/>
              </a:solidFill>
            </a:endParaRPr>
          </a:p>
          <a:p>
            <a:pPr marL="0" indent="0">
              <a:buNone/>
            </a:pPr>
            <a:endParaRPr lang="en-IE" dirty="0"/>
          </a:p>
        </p:txBody>
      </p:sp>
      <p:sp>
        <p:nvSpPr>
          <p:cNvPr id="3" name="TextBox 2">
            <a:extLst>
              <a:ext uri="{FF2B5EF4-FFF2-40B4-BE49-F238E27FC236}">
                <a16:creationId xmlns:a16="http://schemas.microsoft.com/office/drawing/2014/main" id="{6F8A8C0A-6031-41FC-8387-41E38D15B574}"/>
              </a:ext>
            </a:extLst>
          </p:cNvPr>
          <p:cNvSpPr txBox="1"/>
          <p:nvPr/>
        </p:nvSpPr>
        <p:spPr>
          <a:xfrm>
            <a:off x="651841" y="762000"/>
            <a:ext cx="8210550" cy="4093428"/>
          </a:xfrm>
          <a:prstGeom prst="rect">
            <a:avLst/>
          </a:prstGeom>
          <a:noFill/>
        </p:spPr>
        <p:txBody>
          <a:bodyPr wrap="square" rtlCol="0">
            <a:spAutoFit/>
          </a:bodyPr>
          <a:lstStyle/>
          <a:p>
            <a:pPr marL="257175" indent="-257175" defTabSz="685800">
              <a:buFontTx/>
              <a:buAutoNum type="arabicParenR"/>
              <a:defRPr/>
            </a:pPr>
            <a:r>
              <a:rPr lang="es" sz="2000" dirty="0">
                <a:solidFill>
                  <a:srgbClr val="860000"/>
                </a:solidFill>
                <a:latin typeface="Calibri" panose="020F0502020204030204"/>
              </a:rPr>
              <a:t>Jack (45) tenía que elegir entre dos coches. El que eligió y compró se estropea constantemente. El otro coche lo compra su vecino y no tiene ningún problema con él. (¿Habría sido diferente si no le hubieran dado a elegir entre los dos coches?)</a:t>
            </a:r>
            <a:endParaRPr lang="en-IE" sz="2000" dirty="0">
              <a:solidFill>
                <a:srgbClr val="860000"/>
              </a:solidFill>
              <a:latin typeface="Calibri" panose="020F0502020204030204"/>
            </a:endParaRPr>
          </a:p>
          <a:p>
            <a:pPr marL="257175" indent="-257175" defTabSz="685800">
              <a:buFontTx/>
              <a:buAutoNum type="arabicParenR"/>
              <a:defRPr/>
            </a:pPr>
            <a:r>
              <a:rPr lang="es" sz="2000" dirty="0">
                <a:solidFill>
                  <a:srgbClr val="860000"/>
                </a:solidFill>
                <a:latin typeface="Calibri" panose="020F0502020204030204"/>
              </a:rPr>
              <a:t>El ministro de una iglesia se da cuenta de que ya no cree en Dios.</a:t>
            </a:r>
            <a:endParaRPr lang="en-IE" sz="2000" dirty="0">
              <a:solidFill>
                <a:srgbClr val="860000"/>
              </a:solidFill>
              <a:latin typeface="Calibri" panose="020F0502020204030204"/>
            </a:endParaRPr>
          </a:p>
          <a:p>
            <a:pPr marL="257175" indent="-257175" defTabSz="685800">
              <a:buFontTx/>
              <a:buAutoNum type="arabicParenR" startAt="3"/>
              <a:defRPr/>
            </a:pPr>
            <a:r>
              <a:rPr lang="es" sz="2000" dirty="0">
                <a:solidFill>
                  <a:srgbClr val="860000"/>
                </a:solidFill>
                <a:latin typeface="Calibri" panose="020F0502020204030204"/>
              </a:rPr>
              <a:t>Aisha (16) está leyendo que una dieta que ha estado siguiendo porque su madre se la recomendó, ahora se considera un riesgo para la salud.</a:t>
            </a:r>
            <a:endParaRPr lang="en-IE" sz="2000" dirty="0">
              <a:solidFill>
                <a:srgbClr val="860000"/>
              </a:solidFill>
              <a:latin typeface="Calibri" panose="020F0502020204030204"/>
            </a:endParaRPr>
          </a:p>
          <a:p>
            <a:pPr marL="257175" indent="-257175" defTabSz="685800">
              <a:buFontTx/>
              <a:buAutoNum type="arabicParenR" startAt="3"/>
              <a:defRPr/>
            </a:pPr>
            <a:r>
              <a:rPr lang="es" sz="2000" dirty="0">
                <a:solidFill>
                  <a:srgbClr val="860000"/>
                </a:solidFill>
                <a:latin typeface="Calibri" panose="020F0502020204030204"/>
              </a:rPr>
              <a:t>Mo (21) se salta un semáforo en rojo y casi atropella a un peatón que intenta cruzar. No está solo en el coche.</a:t>
            </a:r>
            <a:endParaRPr lang="en-IE" sz="2000" dirty="0">
              <a:solidFill>
                <a:srgbClr val="860000"/>
              </a:solidFill>
              <a:latin typeface="Calibri" panose="020F0502020204030204"/>
            </a:endParaRPr>
          </a:p>
          <a:p>
            <a:pPr marL="257175" indent="-257175" defTabSz="685800">
              <a:buFontTx/>
              <a:buAutoNum type="arabicParenR" startAt="3"/>
              <a:defRPr/>
            </a:pPr>
            <a:r>
              <a:rPr lang="es" sz="2000" dirty="0">
                <a:solidFill>
                  <a:srgbClr val="860000"/>
                </a:solidFill>
                <a:latin typeface="Calibri" panose="020F0502020204030204"/>
              </a:rPr>
              <a:t>Peter (28) descubre que su amante ha tenido una aventura secreta con otra persona durante el último año.</a:t>
            </a:r>
            <a:endParaRPr lang="en-IE" sz="2000" dirty="0">
              <a:solidFill>
                <a:srgbClr val="860000"/>
              </a:solidFill>
              <a:latin typeface="Calibri" panose="020F0502020204030204"/>
            </a:endParaRPr>
          </a:p>
          <a:p>
            <a:pPr marL="257175" indent="-257175" defTabSz="685800">
              <a:buFontTx/>
              <a:buAutoNum type="arabicParenR" startAt="3"/>
              <a:defRPr/>
            </a:pPr>
            <a:r>
              <a:rPr lang="es" sz="2000" dirty="0">
                <a:solidFill>
                  <a:srgbClr val="860000"/>
                </a:solidFill>
                <a:latin typeface="Calibri" panose="020F0502020204030204"/>
              </a:rPr>
              <a:t>Mary (34) lleva deprimida los últimos meses; no va a trabajar, se queda en cama y se siente inútil. Rumía constantemente.</a:t>
            </a:r>
            <a:endParaRPr lang="en-IE" sz="2000" dirty="0">
              <a:solidFill>
                <a:srgbClr val="860000"/>
              </a:solidFill>
              <a:latin typeface="Calibri" panose="020F0502020204030204"/>
            </a:endParaRPr>
          </a:p>
        </p:txBody>
      </p:sp>
      <p:sp>
        <p:nvSpPr>
          <p:cNvPr id="9" name="CuadroTexto 8">
            <a:extLst>
              <a:ext uri="{FF2B5EF4-FFF2-40B4-BE49-F238E27FC236}">
                <a16:creationId xmlns:a16="http://schemas.microsoft.com/office/drawing/2014/main" id="{892CEF9C-8444-9787-094C-63942C9482C6}"/>
              </a:ext>
            </a:extLst>
          </p:cNvPr>
          <p:cNvSpPr txBox="1"/>
          <p:nvPr/>
        </p:nvSpPr>
        <p:spPr>
          <a:xfrm>
            <a:off x="725659" y="5054105"/>
            <a:ext cx="8062913" cy="1015663"/>
          </a:xfrm>
          <a:prstGeom prst="rect">
            <a:avLst/>
          </a:prstGeom>
          <a:noFill/>
        </p:spPr>
        <p:txBody>
          <a:bodyPr wrap="square">
            <a:spAutoFit/>
          </a:bodyPr>
          <a:lstStyle/>
          <a:p>
            <a:pPr marL="257175" indent="-257175" defTabSz="685800">
              <a:buFontTx/>
              <a:buAutoNum type="arabicParenR"/>
              <a:defRPr/>
            </a:pPr>
            <a:r>
              <a:rPr lang="es" sz="2000" dirty="0">
                <a:latin typeface="Calibri" panose="020F0502020204030204"/>
              </a:rPr>
              <a:t>¿Por qúe hay disonancia y cómo imagináis que se siente el malestar?</a:t>
            </a:r>
          </a:p>
          <a:p>
            <a:pPr marL="257175" indent="-257175" defTabSz="685800">
              <a:buFontTx/>
              <a:buAutoNum type="arabicParenR"/>
              <a:defRPr/>
            </a:pPr>
            <a:r>
              <a:rPr lang="es" sz="2000" dirty="0">
                <a:latin typeface="Calibri" panose="020F0502020204030204"/>
              </a:rPr>
              <a:t>¿Cómo se puede reducir?</a:t>
            </a:r>
          </a:p>
          <a:p>
            <a:pPr marL="257175" indent="-257175" defTabSz="685800">
              <a:buFontTx/>
              <a:buAutoNum type="arabicParenR"/>
              <a:defRPr/>
            </a:pPr>
            <a:r>
              <a:rPr lang="es" sz="2000" dirty="0">
                <a:latin typeface="Calibri" panose="020F0502020204030204"/>
              </a:rPr>
              <a:t>¿Qué impacto a largo plazo podría </a:t>
            </a:r>
            <a:r>
              <a:rPr lang="es-ES" sz="2000" dirty="0">
                <a:latin typeface="Calibri" panose="020F0502020204030204"/>
              </a:rPr>
              <a:t>tener?</a:t>
            </a:r>
            <a:endParaRPr lang="en-IE" sz="2000" dirty="0">
              <a:latin typeface="Calibri" panose="020F0502020204030204"/>
            </a:endParaRPr>
          </a:p>
        </p:txBody>
      </p:sp>
      <p:sp>
        <p:nvSpPr>
          <p:cNvPr id="10" name="Title 1">
            <a:extLst>
              <a:ext uri="{FF2B5EF4-FFF2-40B4-BE49-F238E27FC236}">
                <a16:creationId xmlns:a16="http://schemas.microsoft.com/office/drawing/2014/main" id="{3F1C6C6A-4073-1D4C-4623-CA87B3F3680C}"/>
              </a:ext>
            </a:extLst>
          </p:cNvPr>
          <p:cNvSpPr>
            <a:spLocks noGrp="1"/>
          </p:cNvSpPr>
          <p:nvPr>
            <p:ph type="title"/>
          </p:nvPr>
        </p:nvSpPr>
        <p:spPr>
          <a:xfrm>
            <a:off x="1028700" y="163135"/>
            <a:ext cx="7200900" cy="1485900"/>
          </a:xfrm>
        </p:spPr>
        <p:txBody>
          <a:bodyPr>
            <a:normAutofit fontScale="90000"/>
          </a:bodyPr>
          <a:lstStyle/>
          <a:p>
            <a:pPr algn="ctr"/>
            <a:r>
              <a:rPr lang="es" dirty="0"/>
              <a:t>Ejercicio 2</a:t>
            </a:r>
            <a:br>
              <a:rPr lang="en-IE" dirty="0"/>
            </a:br>
            <a:br>
              <a:rPr lang="en-IE" sz="3300" dirty="0">
                <a:solidFill>
                  <a:srgbClr val="C00000"/>
                </a:solidFill>
              </a:rPr>
            </a:br>
            <a:endParaRPr lang="en-IE" dirty="0"/>
          </a:p>
        </p:txBody>
      </p:sp>
    </p:spTree>
    <p:extLst>
      <p:ext uri="{BB962C8B-B14F-4D97-AF65-F5344CB8AC3E}">
        <p14:creationId xmlns:p14="http://schemas.microsoft.com/office/powerpoint/2010/main" val="25083179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B9624-1FB8-4848-81E6-80C46BE084D0}"/>
            </a:ext>
          </a:extLst>
        </p:cNvPr>
        <p:cNvGrpSpPr/>
        <p:nvPr/>
      </p:nvGrpSpPr>
      <p:grpSpPr>
        <a:xfrm>
          <a:off x="0" y="0"/>
          <a:ext cx="0" cy="0"/>
          <a:chOff x="0" y="0"/>
          <a:chExt cx="0" cy="0"/>
        </a:xfrm>
      </p:grpSpPr>
      <p:sp>
        <p:nvSpPr>
          <p:cNvPr id="6146" name="AutoShape 2">
            <a:extLst>
              <a:ext uri="{FF2B5EF4-FFF2-40B4-BE49-F238E27FC236}">
                <a16:creationId xmlns:a16="http://schemas.microsoft.com/office/drawing/2014/main" id="{1DFC0F17-C906-D8FF-766E-60A1D2D66DCA}"/>
              </a:ext>
            </a:extLst>
          </p:cNvPr>
          <p:cNvSpPr>
            <a:spLocks noGrp="1" noChangeArrowheads="1"/>
          </p:cNvSpPr>
          <p:nvPr>
            <p:ph type="title"/>
          </p:nvPr>
        </p:nvSpPr>
        <p:spPr>
          <a:xfrm>
            <a:off x="457200" y="152400"/>
            <a:ext cx="8686800" cy="762000"/>
          </a:xfrm>
        </p:spPr>
        <p:txBody>
          <a:bodyPr>
            <a:noAutofit/>
          </a:bodyPr>
          <a:lstStyle/>
          <a:p>
            <a:pPr algn="ctr"/>
            <a:r>
              <a:rPr lang="es-ES_tradnl" sz="3200" noProof="1"/>
              <a:t>Intervención basada en la Disonancia Cognitiva</a:t>
            </a:r>
          </a:p>
        </p:txBody>
      </p:sp>
      <p:sp>
        <p:nvSpPr>
          <p:cNvPr id="2" name="Rectangle 3">
            <a:extLst>
              <a:ext uri="{FF2B5EF4-FFF2-40B4-BE49-F238E27FC236}">
                <a16:creationId xmlns:a16="http://schemas.microsoft.com/office/drawing/2014/main" id="{341B353E-3B5B-2DB9-05E7-B9B4427AC2F5}"/>
              </a:ext>
            </a:extLst>
          </p:cNvPr>
          <p:cNvSpPr txBox="1">
            <a:spLocks noChangeArrowheads="1"/>
          </p:cNvSpPr>
          <p:nvPr/>
        </p:nvSpPr>
        <p:spPr>
          <a:xfrm>
            <a:off x="1600200" y="5562600"/>
            <a:ext cx="5943600" cy="762000"/>
          </a:xfrm>
          <a:prstGeom prst="rect">
            <a:avLst/>
          </a:prstGeom>
        </p:spPr>
        <p:txBody>
          <a:bodyPr vert="horz" lIns="91440" tIns="45720" rIns="91440" bIns="45720" rtlCol="0">
            <a:noAutofit/>
          </a:bodyPr>
          <a:lstStyle>
            <a:lvl1pPr marL="384048" indent="-384048" algn="l" defTabSz="6858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a:buNone/>
            </a:pPr>
            <a:r>
              <a:rPr lang="es-ES" b="0" i="0" dirty="0">
                <a:solidFill>
                  <a:srgbClr val="000000"/>
                </a:solidFill>
                <a:effectLst/>
                <a:latin typeface="72"/>
              </a:rPr>
              <a:t>https://</a:t>
            </a:r>
            <a:r>
              <a:rPr lang="es-ES" b="0" i="0" dirty="0" err="1">
                <a:solidFill>
                  <a:srgbClr val="000000"/>
                </a:solidFill>
                <a:effectLst/>
                <a:latin typeface="72"/>
              </a:rPr>
              <a:t>eu.qualtrics.com</a:t>
            </a:r>
            <a:r>
              <a:rPr lang="es-ES" b="0" i="0" dirty="0">
                <a:solidFill>
                  <a:srgbClr val="000000"/>
                </a:solidFill>
                <a:effectLst/>
                <a:latin typeface="72"/>
              </a:rPr>
              <a:t>/</a:t>
            </a:r>
            <a:r>
              <a:rPr lang="es-ES" b="0" i="0" dirty="0" err="1">
                <a:solidFill>
                  <a:srgbClr val="000000"/>
                </a:solidFill>
                <a:effectLst/>
                <a:latin typeface="72"/>
              </a:rPr>
              <a:t>jfe</a:t>
            </a:r>
            <a:r>
              <a:rPr lang="es-ES" b="0" i="0" dirty="0">
                <a:solidFill>
                  <a:srgbClr val="000000"/>
                </a:solidFill>
                <a:effectLst/>
                <a:latin typeface="72"/>
              </a:rPr>
              <a:t>/</a:t>
            </a:r>
            <a:r>
              <a:rPr lang="es-ES" b="0" i="0" dirty="0" err="1">
                <a:solidFill>
                  <a:srgbClr val="000000"/>
                </a:solidFill>
                <a:effectLst/>
                <a:latin typeface="72"/>
              </a:rPr>
              <a:t>form</a:t>
            </a:r>
            <a:r>
              <a:rPr lang="es-ES" b="0" i="0" dirty="0">
                <a:solidFill>
                  <a:srgbClr val="000000"/>
                </a:solidFill>
                <a:effectLst/>
                <a:latin typeface="72"/>
              </a:rPr>
              <a:t>/SV_5i5qLHJf6AAz7YG</a:t>
            </a:r>
            <a:endParaRPr lang="es-ES" b="1" dirty="0"/>
          </a:p>
        </p:txBody>
      </p:sp>
      <p:pic>
        <p:nvPicPr>
          <p:cNvPr id="5" name="Imagen 4" descr="Código QR&#10;&#10;El contenido generado por IA puede ser incorrecto.">
            <a:extLst>
              <a:ext uri="{FF2B5EF4-FFF2-40B4-BE49-F238E27FC236}">
                <a16:creationId xmlns:a16="http://schemas.microsoft.com/office/drawing/2014/main" id="{655D7504-A1A5-D951-B496-60E416A7537F}"/>
              </a:ext>
            </a:extLst>
          </p:cNvPr>
          <p:cNvPicPr>
            <a:picLocks noChangeAspect="1"/>
          </p:cNvPicPr>
          <p:nvPr/>
        </p:nvPicPr>
        <p:blipFill>
          <a:blip r:embed="rId3"/>
          <a:stretch>
            <a:fillRect/>
          </a:stretch>
        </p:blipFill>
        <p:spPr>
          <a:xfrm>
            <a:off x="2606675" y="1312221"/>
            <a:ext cx="3930650" cy="3852558"/>
          </a:xfrm>
          <a:prstGeom prst="rect">
            <a:avLst/>
          </a:prstGeom>
        </p:spPr>
      </p:pic>
    </p:spTree>
    <p:extLst>
      <p:ext uri="{BB962C8B-B14F-4D97-AF65-F5344CB8AC3E}">
        <p14:creationId xmlns:p14="http://schemas.microsoft.com/office/powerpoint/2010/main" val="1102942716"/>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61F6B-A359-E683-9D99-EA7D702940BE}"/>
            </a:ext>
          </a:extLst>
        </p:cNvPr>
        <p:cNvGrpSpPr/>
        <p:nvPr/>
      </p:nvGrpSpPr>
      <p:grpSpPr>
        <a:xfrm>
          <a:off x="0" y="0"/>
          <a:ext cx="0" cy="0"/>
          <a:chOff x="0" y="0"/>
          <a:chExt cx="0" cy="0"/>
        </a:xfrm>
      </p:grpSpPr>
      <p:sp>
        <p:nvSpPr>
          <p:cNvPr id="6146" name="AutoShape 2">
            <a:extLst>
              <a:ext uri="{FF2B5EF4-FFF2-40B4-BE49-F238E27FC236}">
                <a16:creationId xmlns:a16="http://schemas.microsoft.com/office/drawing/2014/main" id="{DF7E9678-CF01-20AD-ECA3-8421D3403398}"/>
              </a:ext>
            </a:extLst>
          </p:cNvPr>
          <p:cNvSpPr>
            <a:spLocks noGrp="1" noChangeArrowheads="1"/>
          </p:cNvSpPr>
          <p:nvPr>
            <p:ph type="title"/>
          </p:nvPr>
        </p:nvSpPr>
        <p:spPr>
          <a:xfrm>
            <a:off x="971550" y="2667000"/>
            <a:ext cx="7200900" cy="762000"/>
          </a:xfrm>
        </p:spPr>
        <p:txBody>
          <a:bodyPr>
            <a:noAutofit/>
          </a:bodyPr>
          <a:lstStyle/>
          <a:p>
            <a:pPr algn="ctr"/>
            <a:r>
              <a:rPr lang="es-ES_tradnl" sz="3200" noProof="1"/>
              <a:t>¿En qué creéis que se basa esta intervención?</a:t>
            </a:r>
          </a:p>
        </p:txBody>
      </p:sp>
    </p:spTree>
    <p:extLst>
      <p:ext uri="{BB962C8B-B14F-4D97-AF65-F5344CB8AC3E}">
        <p14:creationId xmlns:p14="http://schemas.microsoft.com/office/powerpoint/2010/main" val="1553009900"/>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A13A4-B75A-1351-4B78-999DEC598E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23C6B3-9353-4EF9-91D7-C1E5A9E250BD}"/>
              </a:ext>
            </a:extLst>
          </p:cNvPr>
          <p:cNvSpPr>
            <a:spLocks noGrp="1"/>
          </p:cNvSpPr>
          <p:nvPr>
            <p:ph type="title"/>
          </p:nvPr>
        </p:nvSpPr>
        <p:spPr>
          <a:xfrm>
            <a:off x="138264" y="46048"/>
            <a:ext cx="8867471" cy="487352"/>
          </a:xfrm>
        </p:spPr>
        <p:txBody>
          <a:bodyPr>
            <a:normAutofit/>
          </a:bodyPr>
          <a:lstStyle/>
          <a:p>
            <a:pPr algn="ctr"/>
            <a:r>
              <a:rPr lang="es-ES" sz="2700" dirty="0"/>
              <a:t>Autoafirmación (Steele, 1988)</a:t>
            </a:r>
            <a:endParaRPr lang="en-IE" dirty="0"/>
          </a:p>
        </p:txBody>
      </p:sp>
      <p:sp>
        <p:nvSpPr>
          <p:cNvPr id="34" name="Content Placeholder 2">
            <a:extLst>
              <a:ext uri="{FF2B5EF4-FFF2-40B4-BE49-F238E27FC236}">
                <a16:creationId xmlns:a16="http://schemas.microsoft.com/office/drawing/2014/main" id="{D886A8E9-7138-ABB2-1E21-BD46B1F48E19}"/>
              </a:ext>
            </a:extLst>
          </p:cNvPr>
          <p:cNvSpPr>
            <a:spLocks noGrp="1"/>
          </p:cNvSpPr>
          <p:nvPr>
            <p:ph sz="half" idx="1"/>
          </p:nvPr>
        </p:nvSpPr>
        <p:spPr>
          <a:xfrm>
            <a:off x="528035" y="1903453"/>
            <a:ext cx="3886200" cy="3909536"/>
          </a:xfrm>
        </p:spPr>
        <p:txBody>
          <a:bodyPr>
            <a:normAutofit/>
          </a:bodyPr>
          <a:lstStyle/>
          <a:p>
            <a:pPr marL="0" indent="0">
              <a:buNone/>
              <a:defRPr/>
            </a:pPr>
            <a:endParaRPr lang="en-IE" sz="4650" dirty="0">
              <a:solidFill>
                <a:srgbClr val="C00000"/>
              </a:solidFill>
            </a:endParaRPr>
          </a:p>
          <a:p>
            <a:pPr marL="0" indent="0">
              <a:buNone/>
              <a:defRPr/>
            </a:pPr>
            <a:endParaRPr lang="en-IE" sz="4650" dirty="0">
              <a:solidFill>
                <a:srgbClr val="C00000"/>
              </a:solidFill>
            </a:endParaRPr>
          </a:p>
          <a:p>
            <a:pPr marL="0" indent="0">
              <a:buNone/>
              <a:defRPr/>
            </a:pPr>
            <a:endParaRPr lang="en-IE" sz="1350" dirty="0"/>
          </a:p>
          <a:p>
            <a:pPr eaLnBrk="1" hangingPunct="1">
              <a:buFont typeface="Arial" charset="0"/>
              <a:buNone/>
              <a:defRPr/>
            </a:pPr>
            <a:endParaRPr lang="en-IE" sz="1350" dirty="0">
              <a:solidFill>
                <a:schemeClr val="tx2">
                  <a:lumMod val="90000"/>
                </a:schemeClr>
              </a:solidFill>
            </a:endParaRPr>
          </a:p>
          <a:p>
            <a:pPr eaLnBrk="1" hangingPunct="1">
              <a:buFont typeface="Arial" charset="0"/>
              <a:buNone/>
              <a:defRPr/>
            </a:pPr>
            <a:endParaRPr lang="en-IE" sz="1350" dirty="0">
              <a:solidFill>
                <a:schemeClr val="tx2">
                  <a:lumMod val="90000"/>
                </a:schemeClr>
              </a:solidFill>
            </a:endParaRPr>
          </a:p>
          <a:p>
            <a:pPr eaLnBrk="1" hangingPunct="1">
              <a:buFont typeface="Arial" charset="0"/>
              <a:buNone/>
              <a:defRPr/>
            </a:pPr>
            <a:endParaRPr lang="en-IE" sz="1050" dirty="0"/>
          </a:p>
          <a:p>
            <a:endParaRPr lang="en-IE" sz="975" dirty="0"/>
          </a:p>
        </p:txBody>
      </p:sp>
      <p:sp>
        <p:nvSpPr>
          <p:cNvPr id="4" name="Content Placeholder 3">
            <a:extLst>
              <a:ext uri="{FF2B5EF4-FFF2-40B4-BE49-F238E27FC236}">
                <a16:creationId xmlns:a16="http://schemas.microsoft.com/office/drawing/2014/main" id="{B905BA7C-3911-E42C-DD46-0EEAD40905B5}"/>
              </a:ext>
            </a:extLst>
          </p:cNvPr>
          <p:cNvSpPr>
            <a:spLocks noGrp="1"/>
          </p:cNvSpPr>
          <p:nvPr>
            <p:ph sz="half" idx="2"/>
          </p:nvPr>
        </p:nvSpPr>
        <p:spPr>
          <a:xfrm>
            <a:off x="4629150" y="1992905"/>
            <a:ext cx="3886200" cy="3586520"/>
          </a:xfrm>
        </p:spPr>
        <p:txBody>
          <a:bodyPr>
            <a:normAutofit/>
          </a:bodyPr>
          <a:lstStyle/>
          <a:p>
            <a:pPr marL="0" indent="0">
              <a:buNone/>
              <a:defRPr/>
            </a:pPr>
            <a:endParaRPr lang="en-IE" sz="4125" dirty="0">
              <a:solidFill>
                <a:srgbClr val="C00000"/>
              </a:solidFill>
            </a:endParaRPr>
          </a:p>
          <a:p>
            <a:pPr marL="0" indent="0">
              <a:buNone/>
            </a:pPr>
            <a:endParaRPr lang="en-IE" dirty="0"/>
          </a:p>
        </p:txBody>
      </p:sp>
      <p:sp>
        <p:nvSpPr>
          <p:cNvPr id="3" name="TextBox 2">
            <a:extLst>
              <a:ext uri="{FF2B5EF4-FFF2-40B4-BE49-F238E27FC236}">
                <a16:creationId xmlns:a16="http://schemas.microsoft.com/office/drawing/2014/main" id="{FBA101EF-95C3-4AAB-8002-23FBEC1245D5}"/>
              </a:ext>
            </a:extLst>
          </p:cNvPr>
          <p:cNvSpPr txBox="1"/>
          <p:nvPr/>
        </p:nvSpPr>
        <p:spPr>
          <a:xfrm>
            <a:off x="528035" y="843677"/>
            <a:ext cx="8477700" cy="5016758"/>
          </a:xfrm>
          <a:prstGeom prst="rect">
            <a:avLst/>
          </a:prstGeom>
          <a:noFill/>
        </p:spPr>
        <p:txBody>
          <a:bodyPr wrap="square" rtlCol="0">
            <a:spAutoFit/>
          </a:bodyPr>
          <a:lstStyle/>
          <a:p>
            <a:pPr marL="285750" indent="-285750">
              <a:buFont typeface="Arial" panose="020B0604020202020204" pitchFamily="34" charset="0"/>
              <a:buChar char="•"/>
            </a:pPr>
            <a:r>
              <a:rPr lang="es-ES" sz="2000" dirty="0"/>
              <a:t>Una aplicación de la teoría de la disonancia cognitiva</a:t>
            </a:r>
          </a:p>
          <a:p>
            <a:pPr marL="285750" indent="-285750">
              <a:buFont typeface="Arial" panose="020B0604020202020204" pitchFamily="34" charset="0"/>
              <a:buChar char="•"/>
            </a:pPr>
            <a:endParaRPr lang="es-ES" sz="2000" dirty="0"/>
          </a:p>
          <a:p>
            <a:pPr marL="285750" indent="-285750">
              <a:buFont typeface="Arial" panose="020B0604020202020204" pitchFamily="34" charset="0"/>
              <a:buChar char="•"/>
            </a:pPr>
            <a:r>
              <a:rPr lang="es-ES" sz="2000" dirty="0"/>
              <a:t>Cuando una acción amenaza nuestra imagen personal →</a:t>
            </a:r>
            <a:br>
              <a:rPr lang="es-ES" sz="2000" dirty="0"/>
            </a:br>
            <a:r>
              <a:rPr lang="es-ES" sz="2000" dirty="0"/>
              <a:t>la disonancia puede reducirse recordando </a:t>
            </a:r>
            <a:r>
              <a:rPr lang="es-ES" sz="2000" b="1" dirty="0"/>
              <a:t>otros valores importantes </a:t>
            </a:r>
            <a:r>
              <a:rPr lang="es-ES" sz="2000" dirty="0"/>
              <a:t>de uno mismo, sin necesidad de justificar la conducta ni cambiar la actitud.</a:t>
            </a:r>
          </a:p>
          <a:p>
            <a:endParaRPr lang="es-ES" sz="2000" dirty="0"/>
          </a:p>
          <a:p>
            <a:pPr marL="285750" indent="-285750">
              <a:buFont typeface="Arial" panose="020B0604020202020204" pitchFamily="34" charset="0"/>
              <a:buChar char="•"/>
            </a:pPr>
            <a:r>
              <a:rPr lang="es-ES" sz="2000" dirty="0"/>
              <a:t>Por lo tanto, si recordamos a las personas los valores importantes sobre ellas mismas (o sus grupos), es muy probable que sean capaces de actuar de forma acorde:</a:t>
            </a:r>
          </a:p>
          <a:p>
            <a:pPr marL="742950" lvl="1" indent="-285750">
              <a:buFont typeface="Arial" panose="020B0604020202020204" pitchFamily="34" charset="0"/>
              <a:buChar char="•"/>
            </a:pPr>
            <a:r>
              <a:rPr lang="es-ES" sz="2000" dirty="0"/>
              <a:t>Reduce sesgos defensivos y procesamiento selectivo (</a:t>
            </a:r>
            <a:r>
              <a:rPr lang="es-ES" sz="2000" dirty="0" err="1"/>
              <a:t>Correll</a:t>
            </a:r>
            <a:r>
              <a:rPr lang="es-ES" sz="2000" dirty="0"/>
              <a:t> et al., 2004; Cohen et al., 2000)</a:t>
            </a:r>
          </a:p>
          <a:p>
            <a:pPr marL="742950" lvl="1" indent="-285750">
              <a:buFont typeface="Arial" panose="020B0604020202020204" pitchFamily="34" charset="0"/>
              <a:buChar char="•"/>
            </a:pPr>
            <a:r>
              <a:rPr lang="es-ES" sz="2000" dirty="0"/>
              <a:t>Permite aceptar información amenazante (Harris et al., 2005)</a:t>
            </a:r>
          </a:p>
          <a:p>
            <a:pPr marL="742950" lvl="1" indent="-285750">
              <a:buFont typeface="Arial" panose="020B0604020202020204" pitchFamily="34" charset="0"/>
              <a:buChar char="•"/>
            </a:pPr>
            <a:r>
              <a:rPr lang="es-ES" sz="2000" dirty="0"/>
              <a:t>Reduce prejuicio y conformismo grupal (</a:t>
            </a:r>
            <a:r>
              <a:rPr lang="es-ES" sz="2000" dirty="0" err="1"/>
              <a:t>Čehajić-Clancy</a:t>
            </a:r>
            <a:r>
              <a:rPr lang="es-ES" sz="2000" dirty="0"/>
              <a:t> et al., 2011; Badea et al., 2018)</a:t>
            </a:r>
          </a:p>
          <a:p>
            <a:pPr marL="742950" lvl="1" indent="-285750">
              <a:buFont typeface="Arial" panose="020B0604020202020204" pitchFamily="34" charset="0"/>
              <a:buChar char="•"/>
            </a:pPr>
            <a:r>
              <a:rPr lang="es-ES" sz="2000" dirty="0"/>
              <a:t>En contexto educativo, ha mejorado rendimiento en grupos vulnerables (Sherman et al., 2013)</a:t>
            </a:r>
          </a:p>
        </p:txBody>
      </p:sp>
    </p:spTree>
    <p:extLst>
      <p:ext uri="{BB962C8B-B14F-4D97-AF65-F5344CB8AC3E}">
        <p14:creationId xmlns:p14="http://schemas.microsoft.com/office/powerpoint/2010/main" val="28967339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0295D-58D4-91D7-BD1B-CADCBA187E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C25A79-965B-E151-032D-0BC73734EB49}"/>
              </a:ext>
            </a:extLst>
          </p:cNvPr>
          <p:cNvSpPr>
            <a:spLocks noGrp="1"/>
          </p:cNvSpPr>
          <p:nvPr>
            <p:ph type="title"/>
          </p:nvPr>
        </p:nvSpPr>
        <p:spPr>
          <a:xfrm>
            <a:off x="138264" y="46048"/>
            <a:ext cx="8867471" cy="487352"/>
          </a:xfrm>
        </p:spPr>
        <p:txBody>
          <a:bodyPr>
            <a:normAutofit/>
          </a:bodyPr>
          <a:lstStyle/>
          <a:p>
            <a:pPr algn="ctr"/>
            <a:r>
              <a:rPr lang="es-ES" sz="2700" dirty="0"/>
              <a:t>Ideas Clave (I)</a:t>
            </a:r>
            <a:endParaRPr lang="en-IE" dirty="0"/>
          </a:p>
        </p:txBody>
      </p:sp>
      <p:sp>
        <p:nvSpPr>
          <p:cNvPr id="34" name="Content Placeholder 2">
            <a:extLst>
              <a:ext uri="{FF2B5EF4-FFF2-40B4-BE49-F238E27FC236}">
                <a16:creationId xmlns:a16="http://schemas.microsoft.com/office/drawing/2014/main" id="{3587B274-DB44-95EF-3C78-20EAF3C7AF9B}"/>
              </a:ext>
            </a:extLst>
          </p:cNvPr>
          <p:cNvSpPr>
            <a:spLocks noGrp="1"/>
          </p:cNvSpPr>
          <p:nvPr>
            <p:ph sz="half" idx="1"/>
          </p:nvPr>
        </p:nvSpPr>
        <p:spPr>
          <a:xfrm>
            <a:off x="528035" y="1903453"/>
            <a:ext cx="3886200" cy="3909536"/>
          </a:xfrm>
        </p:spPr>
        <p:txBody>
          <a:bodyPr>
            <a:normAutofit/>
          </a:bodyPr>
          <a:lstStyle/>
          <a:p>
            <a:pPr marL="0" indent="0">
              <a:buNone/>
              <a:defRPr/>
            </a:pPr>
            <a:endParaRPr lang="en-IE" sz="4650" dirty="0">
              <a:solidFill>
                <a:srgbClr val="C00000"/>
              </a:solidFill>
            </a:endParaRPr>
          </a:p>
          <a:p>
            <a:pPr marL="0" indent="0">
              <a:buNone/>
              <a:defRPr/>
            </a:pPr>
            <a:endParaRPr lang="en-IE" sz="4650" dirty="0">
              <a:solidFill>
                <a:srgbClr val="C00000"/>
              </a:solidFill>
            </a:endParaRPr>
          </a:p>
          <a:p>
            <a:pPr marL="0" indent="0">
              <a:buNone/>
              <a:defRPr/>
            </a:pPr>
            <a:endParaRPr lang="en-IE" sz="1350" dirty="0"/>
          </a:p>
          <a:p>
            <a:pPr eaLnBrk="1" hangingPunct="1">
              <a:buFont typeface="Arial" charset="0"/>
              <a:buNone/>
              <a:defRPr/>
            </a:pPr>
            <a:endParaRPr lang="en-IE" sz="1350" dirty="0">
              <a:solidFill>
                <a:schemeClr val="tx2">
                  <a:lumMod val="90000"/>
                </a:schemeClr>
              </a:solidFill>
            </a:endParaRPr>
          </a:p>
          <a:p>
            <a:pPr eaLnBrk="1" hangingPunct="1">
              <a:buFont typeface="Arial" charset="0"/>
              <a:buNone/>
              <a:defRPr/>
            </a:pPr>
            <a:endParaRPr lang="en-IE" sz="1350" dirty="0">
              <a:solidFill>
                <a:schemeClr val="tx2">
                  <a:lumMod val="90000"/>
                </a:schemeClr>
              </a:solidFill>
            </a:endParaRPr>
          </a:p>
          <a:p>
            <a:pPr eaLnBrk="1" hangingPunct="1">
              <a:buFont typeface="Arial" charset="0"/>
              <a:buNone/>
              <a:defRPr/>
            </a:pPr>
            <a:endParaRPr lang="en-IE" sz="1050" dirty="0"/>
          </a:p>
          <a:p>
            <a:endParaRPr lang="en-IE" sz="975" dirty="0"/>
          </a:p>
        </p:txBody>
      </p:sp>
      <p:sp>
        <p:nvSpPr>
          <p:cNvPr id="4" name="Content Placeholder 3">
            <a:extLst>
              <a:ext uri="{FF2B5EF4-FFF2-40B4-BE49-F238E27FC236}">
                <a16:creationId xmlns:a16="http://schemas.microsoft.com/office/drawing/2014/main" id="{D3F05153-F5DB-F698-3600-F8215793DF9F}"/>
              </a:ext>
            </a:extLst>
          </p:cNvPr>
          <p:cNvSpPr>
            <a:spLocks noGrp="1"/>
          </p:cNvSpPr>
          <p:nvPr>
            <p:ph sz="half" idx="2"/>
          </p:nvPr>
        </p:nvSpPr>
        <p:spPr>
          <a:xfrm>
            <a:off x="4629150" y="1992905"/>
            <a:ext cx="3886200" cy="3586520"/>
          </a:xfrm>
        </p:spPr>
        <p:txBody>
          <a:bodyPr>
            <a:normAutofit/>
          </a:bodyPr>
          <a:lstStyle/>
          <a:p>
            <a:pPr marL="0" indent="0">
              <a:buNone/>
              <a:defRPr/>
            </a:pPr>
            <a:endParaRPr lang="en-IE" sz="4125" dirty="0">
              <a:solidFill>
                <a:srgbClr val="C00000"/>
              </a:solidFill>
            </a:endParaRPr>
          </a:p>
          <a:p>
            <a:pPr marL="0" indent="0">
              <a:buNone/>
            </a:pPr>
            <a:endParaRPr lang="en-IE" dirty="0"/>
          </a:p>
        </p:txBody>
      </p:sp>
      <p:sp>
        <p:nvSpPr>
          <p:cNvPr id="3" name="TextBox 2">
            <a:extLst>
              <a:ext uri="{FF2B5EF4-FFF2-40B4-BE49-F238E27FC236}">
                <a16:creationId xmlns:a16="http://schemas.microsoft.com/office/drawing/2014/main" id="{07A8BDD2-F9FF-A4E1-DBB0-9C7A5B27B217}"/>
              </a:ext>
            </a:extLst>
          </p:cNvPr>
          <p:cNvSpPr txBox="1"/>
          <p:nvPr/>
        </p:nvSpPr>
        <p:spPr>
          <a:xfrm>
            <a:off x="528035" y="870444"/>
            <a:ext cx="8477700" cy="4708981"/>
          </a:xfrm>
          <a:prstGeom prst="rect">
            <a:avLst/>
          </a:prstGeom>
          <a:noFill/>
        </p:spPr>
        <p:txBody>
          <a:bodyPr wrap="square" rtlCol="0">
            <a:spAutoFit/>
          </a:bodyPr>
          <a:lstStyle/>
          <a:p>
            <a:endParaRPr lang="es-ES" sz="2000" dirty="0"/>
          </a:p>
          <a:p>
            <a:pPr marL="285750" indent="-285750">
              <a:buFont typeface="Arial" panose="020B0604020202020204" pitchFamily="34" charset="0"/>
              <a:buChar char="•"/>
            </a:pPr>
            <a:r>
              <a:rPr lang="es-ES" sz="2000" dirty="0"/>
              <a:t>Disonancia Cognitiva: Malestar psicológico ante la discrepancia cognitiva.</a:t>
            </a:r>
          </a:p>
          <a:p>
            <a:pPr marL="742950" lvl="1" indent="-285750">
              <a:buFont typeface="Arial" panose="020B0604020202020204" pitchFamily="34" charset="0"/>
              <a:buChar char="•"/>
            </a:pPr>
            <a:r>
              <a:rPr lang="es-ES" sz="2000" dirty="0"/>
              <a:t>No buscamos coherencia lógica, sino reducir el malestar.</a:t>
            </a:r>
          </a:p>
          <a:p>
            <a:pPr marL="742950" lvl="1" indent="-285750">
              <a:buFont typeface="Arial" panose="020B0604020202020204" pitchFamily="34" charset="0"/>
              <a:buChar char="•"/>
            </a:pPr>
            <a:r>
              <a:rPr lang="es-ES" sz="2000" dirty="0"/>
              <a:t>Es una motivación fisiológica (como el hambre): nos empuja a actuar.</a:t>
            </a:r>
          </a:p>
          <a:p>
            <a:pPr marL="285750" indent="-285750">
              <a:buFont typeface="Arial" panose="020B0604020202020204" pitchFamily="34" charset="0"/>
              <a:buChar char="•"/>
            </a:pPr>
            <a:endParaRPr lang="es-ES" sz="2000" dirty="0"/>
          </a:p>
          <a:p>
            <a:r>
              <a:rPr lang="es-ES" sz="2000" dirty="0"/>
              <a:t>Cuándo aparece más intensamente</a:t>
            </a:r>
          </a:p>
          <a:p>
            <a:pPr marL="285750" indent="-285750">
              <a:buFont typeface="Arial" panose="020B0604020202020204" pitchFamily="34" charset="0"/>
              <a:buChar char="•"/>
            </a:pPr>
            <a:r>
              <a:rPr lang="es-ES" sz="2000" dirty="0"/>
              <a:t>No se puede deshacer la acción (modelo basado en la acción).</a:t>
            </a:r>
          </a:p>
          <a:p>
            <a:pPr marL="285750" indent="-285750">
              <a:buFont typeface="Arial" panose="020B0604020202020204" pitchFamily="34" charset="0"/>
              <a:buChar char="•"/>
            </a:pPr>
            <a:r>
              <a:rPr lang="es-ES" sz="2000" dirty="0"/>
              <a:t>La actitud es importante para mí.</a:t>
            </a:r>
          </a:p>
          <a:p>
            <a:pPr marL="285750" indent="-285750">
              <a:buFont typeface="Arial" panose="020B0604020202020204" pitchFamily="34" charset="0"/>
              <a:buChar char="•"/>
            </a:pPr>
            <a:r>
              <a:rPr lang="es-ES" sz="2000" dirty="0"/>
              <a:t>Amenaza mi autoconcepto (¿soy buena persona / moral / inteligente?).</a:t>
            </a:r>
          </a:p>
          <a:p>
            <a:pPr marL="285750" indent="-285750">
              <a:buFont typeface="Arial" panose="020B0604020202020204" pitchFamily="34" charset="0"/>
              <a:buChar char="•"/>
            </a:pPr>
            <a:endParaRPr lang="es-ES" sz="2000" dirty="0"/>
          </a:p>
          <a:p>
            <a:r>
              <a:rPr lang="es-ES" sz="2000" dirty="0"/>
              <a:t>Cómo la reducimos</a:t>
            </a:r>
          </a:p>
          <a:p>
            <a:r>
              <a:rPr lang="es-ES" sz="2000" dirty="0"/>
              <a:t>Estrategias cognitivas:</a:t>
            </a:r>
          </a:p>
          <a:p>
            <a:pPr marL="742950" lvl="1" indent="-285750">
              <a:buFont typeface="Arial" panose="020B0604020202020204" pitchFamily="34" charset="0"/>
              <a:buChar char="•"/>
            </a:pPr>
            <a:r>
              <a:rPr lang="es-ES" sz="2000" dirty="0"/>
              <a:t>Añadir justificaciones.</a:t>
            </a:r>
          </a:p>
          <a:p>
            <a:pPr marL="742950" lvl="1" indent="-285750">
              <a:buFont typeface="Arial" panose="020B0604020202020204" pitchFamily="34" charset="0"/>
              <a:buChar char="•"/>
            </a:pPr>
            <a:r>
              <a:rPr lang="es-ES" sz="2000" dirty="0"/>
              <a:t>Dar más importancia a las cogniciones consonantes.</a:t>
            </a:r>
          </a:p>
          <a:p>
            <a:pPr marL="742950" lvl="1" indent="-285750">
              <a:buFont typeface="Arial" panose="020B0604020202020204" pitchFamily="34" charset="0"/>
              <a:buChar char="•"/>
            </a:pPr>
            <a:r>
              <a:rPr lang="es-ES" sz="2000" dirty="0"/>
              <a:t>Minimizar la importancia de las cogniciones disonantes.</a:t>
            </a:r>
          </a:p>
        </p:txBody>
      </p:sp>
    </p:spTree>
    <p:extLst>
      <p:ext uri="{BB962C8B-B14F-4D97-AF65-F5344CB8AC3E}">
        <p14:creationId xmlns:p14="http://schemas.microsoft.com/office/powerpoint/2010/main" val="36769824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3374D-AD17-C703-F432-40B2092B5E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CE3CAA-5C01-8A05-2279-6E8078EF631D}"/>
              </a:ext>
            </a:extLst>
          </p:cNvPr>
          <p:cNvSpPr>
            <a:spLocks noGrp="1"/>
          </p:cNvSpPr>
          <p:nvPr>
            <p:ph type="title"/>
          </p:nvPr>
        </p:nvSpPr>
        <p:spPr>
          <a:xfrm>
            <a:off x="138264" y="46048"/>
            <a:ext cx="8867471" cy="487352"/>
          </a:xfrm>
        </p:spPr>
        <p:txBody>
          <a:bodyPr>
            <a:normAutofit/>
          </a:bodyPr>
          <a:lstStyle/>
          <a:p>
            <a:pPr algn="ctr"/>
            <a:r>
              <a:rPr lang="es-ES" sz="2700" dirty="0"/>
              <a:t>Ideas Clave (II)</a:t>
            </a:r>
            <a:endParaRPr lang="en-IE" dirty="0"/>
          </a:p>
        </p:txBody>
      </p:sp>
      <p:sp>
        <p:nvSpPr>
          <p:cNvPr id="34" name="Content Placeholder 2">
            <a:extLst>
              <a:ext uri="{FF2B5EF4-FFF2-40B4-BE49-F238E27FC236}">
                <a16:creationId xmlns:a16="http://schemas.microsoft.com/office/drawing/2014/main" id="{5433D589-ECE8-2B8F-F1FB-596E1AA56DC1}"/>
              </a:ext>
            </a:extLst>
          </p:cNvPr>
          <p:cNvSpPr>
            <a:spLocks noGrp="1"/>
          </p:cNvSpPr>
          <p:nvPr>
            <p:ph sz="half" idx="1"/>
          </p:nvPr>
        </p:nvSpPr>
        <p:spPr>
          <a:xfrm>
            <a:off x="528035" y="1903453"/>
            <a:ext cx="3886200" cy="3909536"/>
          </a:xfrm>
        </p:spPr>
        <p:txBody>
          <a:bodyPr>
            <a:normAutofit/>
          </a:bodyPr>
          <a:lstStyle/>
          <a:p>
            <a:pPr marL="0" indent="0">
              <a:buNone/>
              <a:defRPr/>
            </a:pPr>
            <a:endParaRPr lang="en-IE" sz="4650" dirty="0">
              <a:solidFill>
                <a:srgbClr val="C00000"/>
              </a:solidFill>
            </a:endParaRPr>
          </a:p>
          <a:p>
            <a:pPr marL="0" indent="0">
              <a:buNone/>
              <a:defRPr/>
            </a:pPr>
            <a:endParaRPr lang="en-IE" sz="4650" dirty="0">
              <a:solidFill>
                <a:srgbClr val="C00000"/>
              </a:solidFill>
            </a:endParaRPr>
          </a:p>
          <a:p>
            <a:pPr marL="0" indent="0">
              <a:buNone/>
              <a:defRPr/>
            </a:pPr>
            <a:endParaRPr lang="en-IE" sz="1350" dirty="0"/>
          </a:p>
          <a:p>
            <a:pPr eaLnBrk="1" hangingPunct="1">
              <a:buFont typeface="Arial" charset="0"/>
              <a:buNone/>
              <a:defRPr/>
            </a:pPr>
            <a:endParaRPr lang="en-IE" sz="1350" dirty="0">
              <a:solidFill>
                <a:schemeClr val="tx2">
                  <a:lumMod val="90000"/>
                </a:schemeClr>
              </a:solidFill>
            </a:endParaRPr>
          </a:p>
          <a:p>
            <a:pPr eaLnBrk="1" hangingPunct="1">
              <a:buFont typeface="Arial" charset="0"/>
              <a:buNone/>
              <a:defRPr/>
            </a:pPr>
            <a:endParaRPr lang="en-IE" sz="1350" dirty="0">
              <a:solidFill>
                <a:schemeClr val="tx2">
                  <a:lumMod val="90000"/>
                </a:schemeClr>
              </a:solidFill>
            </a:endParaRPr>
          </a:p>
          <a:p>
            <a:pPr eaLnBrk="1" hangingPunct="1">
              <a:buFont typeface="Arial" charset="0"/>
              <a:buNone/>
              <a:defRPr/>
            </a:pPr>
            <a:endParaRPr lang="en-IE" sz="1050" dirty="0"/>
          </a:p>
          <a:p>
            <a:endParaRPr lang="en-IE" sz="975" dirty="0"/>
          </a:p>
        </p:txBody>
      </p:sp>
      <p:sp>
        <p:nvSpPr>
          <p:cNvPr id="4" name="Content Placeholder 3">
            <a:extLst>
              <a:ext uri="{FF2B5EF4-FFF2-40B4-BE49-F238E27FC236}">
                <a16:creationId xmlns:a16="http://schemas.microsoft.com/office/drawing/2014/main" id="{94B10E94-9CF4-7CC6-AF43-5E82A673B4CF}"/>
              </a:ext>
            </a:extLst>
          </p:cNvPr>
          <p:cNvSpPr>
            <a:spLocks noGrp="1"/>
          </p:cNvSpPr>
          <p:nvPr>
            <p:ph sz="half" idx="2"/>
          </p:nvPr>
        </p:nvSpPr>
        <p:spPr>
          <a:xfrm>
            <a:off x="4629150" y="1992905"/>
            <a:ext cx="3886200" cy="3586520"/>
          </a:xfrm>
        </p:spPr>
        <p:txBody>
          <a:bodyPr>
            <a:normAutofit/>
          </a:bodyPr>
          <a:lstStyle/>
          <a:p>
            <a:pPr marL="0" indent="0">
              <a:buNone/>
              <a:defRPr/>
            </a:pPr>
            <a:endParaRPr lang="en-IE" sz="4125" dirty="0">
              <a:solidFill>
                <a:srgbClr val="C00000"/>
              </a:solidFill>
            </a:endParaRPr>
          </a:p>
          <a:p>
            <a:pPr marL="0" indent="0">
              <a:buNone/>
            </a:pPr>
            <a:endParaRPr lang="en-IE" dirty="0"/>
          </a:p>
        </p:txBody>
      </p:sp>
      <p:sp>
        <p:nvSpPr>
          <p:cNvPr id="3" name="TextBox 2">
            <a:extLst>
              <a:ext uri="{FF2B5EF4-FFF2-40B4-BE49-F238E27FC236}">
                <a16:creationId xmlns:a16="http://schemas.microsoft.com/office/drawing/2014/main" id="{792BA07B-250E-5794-0668-B23929ED4B41}"/>
              </a:ext>
            </a:extLst>
          </p:cNvPr>
          <p:cNvSpPr txBox="1"/>
          <p:nvPr/>
        </p:nvSpPr>
        <p:spPr>
          <a:xfrm>
            <a:off x="528035" y="914400"/>
            <a:ext cx="8477700" cy="4093428"/>
          </a:xfrm>
          <a:prstGeom prst="rect">
            <a:avLst/>
          </a:prstGeom>
          <a:noFill/>
        </p:spPr>
        <p:txBody>
          <a:bodyPr wrap="square" rtlCol="0">
            <a:spAutoFit/>
          </a:bodyPr>
          <a:lstStyle/>
          <a:p>
            <a:endParaRPr lang="es-ES" sz="2000" dirty="0"/>
          </a:p>
          <a:p>
            <a:pPr marL="285750" indent="-285750">
              <a:buFont typeface="Arial" panose="020B0604020202020204" pitchFamily="34" charset="0"/>
              <a:buChar char="•"/>
            </a:pPr>
            <a:r>
              <a:rPr lang="es-ES" sz="2000" dirty="0"/>
              <a:t>Paradigmas clásicos:</a:t>
            </a:r>
          </a:p>
          <a:p>
            <a:pPr marL="742950" lvl="1" indent="-285750">
              <a:buFont typeface="Arial" panose="020B0604020202020204" pitchFamily="34" charset="0"/>
              <a:buChar char="•"/>
            </a:pPr>
            <a:r>
              <a:rPr lang="es-ES" sz="2000" dirty="0"/>
              <a:t>Libre elección → justificamos decisiones.</a:t>
            </a:r>
          </a:p>
          <a:p>
            <a:pPr marL="742950" lvl="1" indent="-285750">
              <a:buFont typeface="Arial" panose="020B0604020202020204" pitchFamily="34" charset="0"/>
              <a:buChar char="•"/>
            </a:pPr>
            <a:r>
              <a:rPr lang="es-ES" sz="2000" dirty="0"/>
              <a:t>Justificación del esfuerzo → valoramos más lo que costó.</a:t>
            </a:r>
          </a:p>
          <a:p>
            <a:pPr marL="742950" lvl="1" indent="-285750">
              <a:buFont typeface="Arial" panose="020B0604020202020204" pitchFamily="34" charset="0"/>
              <a:buChar char="•"/>
            </a:pPr>
            <a:r>
              <a:rPr lang="es-ES" sz="2000" dirty="0" err="1"/>
              <a:t>Desconfirmación</a:t>
            </a:r>
            <a:r>
              <a:rPr lang="es-ES" sz="2000" dirty="0"/>
              <a:t> de creencias → defendemos más nuestras creencias.</a:t>
            </a:r>
          </a:p>
          <a:p>
            <a:pPr marL="742950" lvl="1" indent="-285750">
              <a:buFont typeface="Arial" panose="020B0604020202020204" pitchFamily="34" charset="0"/>
              <a:buChar char="•"/>
            </a:pPr>
            <a:r>
              <a:rPr lang="es-ES" sz="2000" dirty="0"/>
              <a:t>Complacencia inducida → cambio de actitud tras poca recompensa (Festinger &amp; </a:t>
            </a:r>
            <a:r>
              <a:rPr lang="es-ES" sz="2000" dirty="0" err="1"/>
              <a:t>Carlsmith</a:t>
            </a:r>
            <a:r>
              <a:rPr lang="es-ES" sz="2000" dirty="0"/>
              <a:t>, 1959).</a:t>
            </a:r>
          </a:p>
          <a:p>
            <a:pPr marL="285750" indent="-285750">
              <a:buFont typeface="Arial" panose="020B0604020202020204" pitchFamily="34" charset="0"/>
              <a:buChar char="•"/>
            </a:pPr>
            <a:endParaRPr lang="es-ES" sz="2000" dirty="0"/>
          </a:p>
          <a:p>
            <a:pPr marL="285750" indent="-285750">
              <a:buFont typeface="Arial" panose="020B0604020202020204" pitchFamily="34" charset="0"/>
              <a:buChar char="•"/>
            </a:pPr>
            <a:r>
              <a:rPr lang="es-ES" sz="2000" dirty="0"/>
              <a:t>Aplicaciones</a:t>
            </a:r>
          </a:p>
          <a:p>
            <a:pPr marL="742950" lvl="1" indent="-285750">
              <a:buFont typeface="Arial" panose="020B0604020202020204" pitchFamily="34" charset="0"/>
              <a:buChar char="•"/>
            </a:pPr>
            <a:r>
              <a:rPr lang="es-ES" sz="2000" dirty="0"/>
              <a:t>Comprender conflictos internos cotidianos.</a:t>
            </a:r>
          </a:p>
          <a:p>
            <a:pPr marL="742950" lvl="1" indent="-285750">
              <a:buFont typeface="Arial" panose="020B0604020202020204" pitchFamily="34" charset="0"/>
              <a:buChar char="•"/>
            </a:pPr>
            <a:r>
              <a:rPr lang="es-ES" sz="2000" dirty="0"/>
              <a:t>Explicar racionalizaciones y autoengaños.</a:t>
            </a:r>
          </a:p>
          <a:p>
            <a:pPr marL="742950" lvl="1" indent="-285750">
              <a:buFont typeface="Arial" panose="020B0604020202020204" pitchFamily="34" charset="0"/>
              <a:buChar char="•"/>
            </a:pPr>
            <a:r>
              <a:rPr lang="es-ES" sz="2000" dirty="0"/>
              <a:t>Intervenciones: cambiar conductas → cambiar actitudes.</a:t>
            </a:r>
          </a:p>
        </p:txBody>
      </p:sp>
    </p:spTree>
    <p:extLst>
      <p:ext uri="{BB962C8B-B14F-4D97-AF65-F5344CB8AC3E}">
        <p14:creationId xmlns:p14="http://schemas.microsoft.com/office/powerpoint/2010/main" val="30297306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026" name="Picture 2" descr="Tres niños vestidos como nerds con cascos de lectura mental">
            <a:extLst>
              <a:ext uri="{FF2B5EF4-FFF2-40B4-BE49-F238E27FC236}">
                <a16:creationId xmlns:a16="http://schemas.microsoft.com/office/drawing/2014/main" id="{726CB28B-217B-7FDF-E479-D12EFE938B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8359" r="-1" b="-1"/>
          <a:stretch>
            <a:fillRect/>
          </a:stretch>
        </p:blipFill>
        <p:spPr bwMode="auto">
          <a:xfrm>
            <a:off x="20" y="10"/>
            <a:ext cx="9141468"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a16="http://schemas.microsoft.com/office/drawing/2014/main" id="{2078F889-8780-48D5-8B9E-DF8B130637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93" y="0"/>
            <a:ext cx="9143999" cy="6858000"/>
          </a:xfrm>
          <a:prstGeom prst="rect">
            <a:avLst/>
          </a:prstGeom>
          <a:gradFill flip="none" rotWithShape="1">
            <a:gsLst>
              <a:gs pos="20000">
                <a:schemeClr val="tx2">
                  <a:alpha val="70000"/>
                </a:schemeClr>
              </a:gs>
              <a:gs pos="100000">
                <a:schemeClr val="tx2"/>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1033" name="Rectangle 1032">
            <a:extLst>
              <a:ext uri="{FF2B5EF4-FFF2-40B4-BE49-F238E27FC236}">
                <a16:creationId xmlns:a16="http://schemas.microsoft.com/office/drawing/2014/main" id="{3A4CABA2-22A0-44B2-BD92-28FF73FCEA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571" y="376"/>
            <a:ext cx="17145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_tradnl" dirty="0"/>
          </a:p>
        </p:txBody>
      </p:sp>
      <p:sp>
        <p:nvSpPr>
          <p:cNvPr id="3" name="Marcador de contenido 2">
            <a:extLst>
              <a:ext uri="{FF2B5EF4-FFF2-40B4-BE49-F238E27FC236}">
                <a16:creationId xmlns:a16="http://schemas.microsoft.com/office/drawing/2014/main" id="{D8BA9846-378B-8241-69C1-D0A3C5B3546B}"/>
              </a:ext>
            </a:extLst>
          </p:cNvPr>
          <p:cNvSpPr>
            <a:spLocks noGrp="1"/>
          </p:cNvSpPr>
          <p:nvPr>
            <p:ph idx="1"/>
          </p:nvPr>
        </p:nvSpPr>
        <p:spPr>
          <a:xfrm>
            <a:off x="970304" y="2895600"/>
            <a:ext cx="7200900" cy="685800"/>
          </a:xfrm>
        </p:spPr>
        <p:txBody>
          <a:bodyPr>
            <a:noAutofit/>
          </a:bodyPr>
          <a:lstStyle/>
          <a:p>
            <a:pPr marL="0" indent="0" algn="ctr">
              <a:buNone/>
            </a:pPr>
            <a:r>
              <a:rPr lang="es-ES_tradnl" sz="3600" dirty="0">
                <a:solidFill>
                  <a:schemeClr val="bg2"/>
                </a:solidFill>
              </a:rPr>
              <a:t>¡Gracias por vuestra atención!</a:t>
            </a:r>
          </a:p>
          <a:p>
            <a:pPr marL="0" indent="0" algn="ctr">
              <a:buNone/>
            </a:pPr>
            <a:r>
              <a:rPr lang="es-ES_tradnl" sz="3600" dirty="0">
                <a:solidFill>
                  <a:schemeClr val="bg2"/>
                </a:solidFill>
              </a:rPr>
              <a:t>Comentarios, preguntas…</a:t>
            </a:r>
          </a:p>
        </p:txBody>
      </p:sp>
    </p:spTree>
    <p:extLst>
      <p:ext uri="{BB962C8B-B14F-4D97-AF65-F5344CB8AC3E}">
        <p14:creationId xmlns:p14="http://schemas.microsoft.com/office/powerpoint/2010/main" val="2767948683"/>
      </p:ext>
    </p:extLst>
  </p:cSld>
  <p:clrMapOvr>
    <a:masterClrMapping/>
  </p:clrMapOvr>
</p:sld>
</file>

<file path=ppt/theme/theme1.xml><?xml version="1.0" encoding="utf-8"?>
<a:theme xmlns:a="http://schemas.openxmlformats.org/drawingml/2006/main" name="Recorte">
  <a:themeElements>
    <a:clrScheme name="Recorte">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Recorte">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Recort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Crop</Template>
  <TotalTime>14756</TotalTime>
  <Words>2469</Words>
  <Application>Microsoft Office PowerPoint</Application>
  <PresentationFormat>Presentación en pantalla (4:3)</PresentationFormat>
  <Paragraphs>275</Paragraphs>
  <Slides>26</Slides>
  <Notes>11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26</vt:i4>
      </vt:variant>
    </vt:vector>
  </HeadingPairs>
  <TitlesOfParts>
    <vt:vector size="34" baseType="lpstr">
      <vt:lpstr>72</vt:lpstr>
      <vt:lpstr>Aptos</vt:lpstr>
      <vt:lpstr>Arial</vt:lpstr>
      <vt:lpstr>ArialMT</vt:lpstr>
      <vt:lpstr>Calibri</vt:lpstr>
      <vt:lpstr>Franklin Gothic Book</vt:lpstr>
      <vt:lpstr>Times New Roman</vt:lpstr>
      <vt:lpstr>Recorte</vt:lpstr>
      <vt:lpstr>TEMA 6.1. qué son y cómo se forman las actitudes   CLASE PRÁCTICA: DISONANCIA COGNITIVA</vt:lpstr>
      <vt:lpstr>Conflicto interno en la vida cotidiana  </vt:lpstr>
      <vt:lpstr>Disonancia Cognitiva (Vídeo)</vt:lpstr>
      <vt:lpstr>1. Disonancia Cognitiva</vt:lpstr>
      <vt:lpstr>Terminología de la disonancia cognitiva en lenguaje habitual</vt:lpstr>
      <vt:lpstr>Conexión entre el ejemplo y la teoría</vt:lpstr>
      <vt:lpstr>2. Factores Relevantes en la Disonancia</vt:lpstr>
      <vt:lpstr>2.1. Naturaleza de la Acción</vt:lpstr>
      <vt:lpstr>2.1. Naturaleza de la Acción (Action-Based Model, Harmon-Jones et al. (2009))</vt:lpstr>
      <vt:lpstr>2.2. Relevancia de la Actitud (Festinger, 1957)</vt:lpstr>
      <vt:lpstr>2.2. Relevancia de la Actitud (Festinger, 1957)</vt:lpstr>
      <vt:lpstr>2.3. Relación con el Yo</vt:lpstr>
      <vt:lpstr>2.3. Relación con el Yo</vt:lpstr>
      <vt:lpstr>3.Cómo Reducimos la Disonancia</vt:lpstr>
      <vt:lpstr>Ejercicio 1 Responder y debatir las cuatro preguntas en equipos (4-5 personas) </vt:lpstr>
      <vt:lpstr>3.1. Paradigma de la Libre Elección</vt:lpstr>
      <vt:lpstr>3.2. Paradigma de la Desconfirmación de Creencias </vt:lpstr>
      <vt:lpstr>3.3. Paradigma de Justificación del Esfuerzo </vt:lpstr>
      <vt:lpstr>3.4. Paradigma de Complacencia Inducida </vt:lpstr>
      <vt:lpstr>Ejercicio 2  </vt:lpstr>
      <vt:lpstr>Intervención basada en la Disonancia Cognitiva</vt:lpstr>
      <vt:lpstr>¿En qué creéis que se basa esta intervención?</vt:lpstr>
      <vt:lpstr>Autoafirmación (Steele, 1988)</vt:lpstr>
      <vt:lpstr>Ideas Clave (I)</vt:lpstr>
      <vt:lpstr>Ideas Clave (II)</vt:lpstr>
      <vt:lpstr>Presentación de PowerPoint</vt:lpstr>
    </vt:vector>
  </TitlesOfParts>
  <Company>WOU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Social Psychology</dc:title>
  <dc:creator>fosterd</dc:creator>
  <cp:lastModifiedBy>ÁLVARO MARTÍN LÓPEZ</cp:lastModifiedBy>
  <cp:revision>64</cp:revision>
  <dcterms:created xsi:type="dcterms:W3CDTF">2007-09-21T19:13:20Z</dcterms:created>
  <dcterms:modified xsi:type="dcterms:W3CDTF">2025-11-26T19:20:43Z</dcterms:modified>
</cp:coreProperties>
</file>